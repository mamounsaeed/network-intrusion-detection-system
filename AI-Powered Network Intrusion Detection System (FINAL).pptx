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303" r:id="rId74"/>
    <p:sldId id="267" r:id="rId18"/>
    <p:sldId id="268" r:id="rId19"/>
    <p:sldId id="269" r:id="rId20"/>
    <p:sldId id="270" r:id="rId21"/>
    <p:sldId id="304" r:id="rId75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y="6858000" cx="12192000"/>
  <p:notesSz cx="6858000" cy="9144000"/>
  <p:embeddedFontLst>
    <p:embeddedFont>
      <p:font typeface="Inter SemiBold"/>
      <p:regular r:id="rId54"/>
      <p:bold r:id="rId55"/>
      <p:italic r:id="rId56"/>
      <p:boldItalic r:id="rId57"/>
    </p:embeddedFont>
    <p:embeddedFont>
      <p:font typeface="Poppins"/>
      <p:regular r:id="rId58"/>
      <p:bold r:id="rId59"/>
      <p:italic r:id="rId60"/>
      <p:boldItalic r:id="rId61"/>
    </p:embeddedFont>
    <p:embeddedFont>
      <p:font typeface="Inter"/>
      <p:regular r:id="rId62"/>
      <p:bold r:id="rId63"/>
      <p:italic r:id="rId64"/>
      <p:boldItalic r:id="rId65"/>
    </p:embeddedFont>
    <p:embeddedFont>
      <p:font typeface="Poppins SemiBold"/>
      <p:regular r:id="rId66"/>
      <p:bold r:id="rId67"/>
      <p:italic r:id="rId68"/>
      <p:boldItalic r:id="rId69"/>
    </p:embeddedFont>
    <p:embeddedFont>
      <p:font typeface="Inter Medium"/>
      <p:regular r:id="rId70"/>
      <p:bold r:id="rId71"/>
      <p:italic r:id="rId72"/>
      <p:boldItalic r:id="rId7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A9026A8-B2F2-45B2-8AF8-5DC6FBDDCD7D}">
  <a:tblStyle styleId="{2A9026A8-B2F2-45B2-8AF8-5DC6FBDDCD7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font" Target="fonts/InterSemiBold-regular.fntdata"/><Relationship Id="rId55" Type="http://schemas.openxmlformats.org/officeDocument/2006/relationships/font" Target="fonts/InterSemiBold-bold.fntdata"/><Relationship Id="rId56" Type="http://schemas.openxmlformats.org/officeDocument/2006/relationships/font" Target="fonts/InterSemiBold-italic.fntdata"/><Relationship Id="rId57" Type="http://schemas.openxmlformats.org/officeDocument/2006/relationships/font" Target="fonts/InterSemiBold-boldItalic.fntdata"/><Relationship Id="rId58" Type="http://schemas.openxmlformats.org/officeDocument/2006/relationships/font" Target="fonts/Poppins-regular.fntdata"/><Relationship Id="rId59" Type="http://schemas.openxmlformats.org/officeDocument/2006/relationships/font" Target="fonts/Poppins-bold.fntdata"/><Relationship Id="rId60" Type="http://schemas.openxmlformats.org/officeDocument/2006/relationships/font" Target="fonts/Poppins-italic.fntdata"/><Relationship Id="rId61" Type="http://schemas.openxmlformats.org/officeDocument/2006/relationships/font" Target="fonts/Poppins-boldItalic.fntdata"/><Relationship Id="rId62" Type="http://schemas.openxmlformats.org/officeDocument/2006/relationships/font" Target="fonts/Inter-regular.fntdata"/><Relationship Id="rId63" Type="http://schemas.openxmlformats.org/officeDocument/2006/relationships/font" Target="fonts/Inter-bold.fntdata"/><Relationship Id="rId64" Type="http://schemas.openxmlformats.org/officeDocument/2006/relationships/font" Target="fonts/Inter-italic.fntdata"/><Relationship Id="rId65" Type="http://schemas.openxmlformats.org/officeDocument/2006/relationships/font" Target="fonts/Inter-boldItalic.fntdata"/><Relationship Id="rId66" Type="http://schemas.openxmlformats.org/officeDocument/2006/relationships/font" Target="fonts/PoppinsSemiBold-regular.fntdata"/><Relationship Id="rId67" Type="http://schemas.openxmlformats.org/officeDocument/2006/relationships/font" Target="fonts/PoppinsSemiBold-bold.fntdata"/><Relationship Id="rId68" Type="http://schemas.openxmlformats.org/officeDocument/2006/relationships/font" Target="fonts/PoppinsSemiBold-italic.fntdata"/><Relationship Id="rId69" Type="http://schemas.openxmlformats.org/officeDocument/2006/relationships/font" Target="fonts/PoppinsSemiBold-boldItalic.fntdata"/><Relationship Id="rId70" Type="http://schemas.openxmlformats.org/officeDocument/2006/relationships/font" Target="fonts/InterMedium-regular.fntdata"/><Relationship Id="rId71" Type="http://schemas.openxmlformats.org/officeDocument/2006/relationships/font" Target="fonts/InterMedium-bold.fntdata"/><Relationship Id="rId72" Type="http://schemas.openxmlformats.org/officeDocument/2006/relationships/font" Target="fonts/InterMedium-italic.fntdata"/><Relationship Id="rId73" Type="http://schemas.openxmlformats.org/officeDocument/2006/relationships/font" Target="fonts/InterMedium-boldItalic.fntdata"/><Relationship Id="rId74" Type="http://schemas.openxmlformats.org/officeDocument/2006/relationships/slide" Target="slides/slide48.xml"/><Relationship Id="rId75" Type="http://schemas.openxmlformats.org/officeDocument/2006/relationships/slide" Target="slides/slide4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ededb2aba4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g3ededb2aba4_0_2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11.png"/><Relationship Id="rId7" Type="http://schemas.openxmlformats.org/officeDocument/2006/relationships/image" Target="../media/image1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5" Type="http://schemas.openxmlformats.org/officeDocument/2006/relationships/image" Target="../media/image7.png"/><Relationship Id="rId6" Type="http://schemas.openxmlformats.org/officeDocument/2006/relationships/image" Target="../media/image5.png"/><Relationship Id="rId7" Type="http://schemas.openxmlformats.org/officeDocument/2006/relationships/image" Target="../media/image22.png"/><Relationship Id="rId8" Type="http://schemas.openxmlformats.org/officeDocument/2006/relationships/image" Target="../media/image17.png"/><Relationship Id="rId9" Type="http://schemas.openxmlformats.org/officeDocument/2006/relationships/image" Target="../media/image21.png"/><Relationship Id="rId10" Type="http://schemas.openxmlformats.org/officeDocument/2006/relationships/image" Target="../media/image12.png"/><Relationship Id="rId11" Type="http://schemas.openxmlformats.org/officeDocument/2006/relationships/image" Target="../media/image9.png"/><Relationship Id="rId12" Type="http://schemas.openxmlformats.org/officeDocument/2006/relationships/image" Target="../media/image20.png"/><Relationship Id="rId13" Type="http://schemas.openxmlformats.org/officeDocument/2006/relationships/image" Target="../media/image14.png"/><Relationship Id="rId14" Type="http://schemas.openxmlformats.org/officeDocument/2006/relationships/image" Target="../media/image19.png"/><Relationship Id="rId15" Type="http://schemas.openxmlformats.org/officeDocument/2006/relationships/image" Target="../media/image18.png"/><Relationship Id="rId16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8.png"/><Relationship Id="rId5" Type="http://schemas.openxmlformats.org/officeDocument/2006/relationships/image" Target="../media/image10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2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37.png"/><Relationship Id="rId5" Type="http://schemas.openxmlformats.org/officeDocument/2006/relationships/image" Target="../media/image32.png"/><Relationship Id="rId6" Type="http://schemas.openxmlformats.org/officeDocument/2006/relationships/image" Target="../media/image25.png"/><Relationship Id="rId7" Type="http://schemas.openxmlformats.org/officeDocument/2006/relationships/image" Target="../media/image27.png"/><Relationship Id="rId8" Type="http://schemas.openxmlformats.org/officeDocument/2006/relationships/image" Target="../media/image3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image" Target="../media/image48.png"/><Relationship Id="rId7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51.png"/><Relationship Id="rId5" Type="http://schemas.openxmlformats.org/officeDocument/2006/relationships/image" Target="../media/image33.png"/><Relationship Id="rId6" Type="http://schemas.openxmlformats.org/officeDocument/2006/relationships/image" Target="../media/image30.png"/><Relationship Id="rId7" Type="http://schemas.openxmlformats.org/officeDocument/2006/relationships/image" Target="../media/image29.png"/><Relationship Id="rId8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4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47.png"/><Relationship Id="rId5" Type="http://schemas.openxmlformats.org/officeDocument/2006/relationships/image" Target="../media/image46.png"/><Relationship Id="rId6" Type="http://schemas.openxmlformats.org/officeDocument/2006/relationships/image" Target="../media/image35.png"/><Relationship Id="rId7" Type="http://schemas.openxmlformats.org/officeDocument/2006/relationships/image" Target="../media/image3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47.png"/><Relationship Id="rId5" Type="http://schemas.openxmlformats.org/officeDocument/2006/relationships/image" Target="../media/image43.png"/><Relationship Id="rId6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39.png"/><Relationship Id="rId5" Type="http://schemas.openxmlformats.org/officeDocument/2006/relationships/image" Target="../media/image6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42.png"/><Relationship Id="rId5" Type="http://schemas.openxmlformats.org/officeDocument/2006/relationships/image" Target="../media/image2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40.png"/><Relationship Id="rId5" Type="http://schemas.openxmlformats.org/officeDocument/2006/relationships/image" Target="../media/image45.png"/><Relationship Id="rId6" Type="http://schemas.openxmlformats.org/officeDocument/2006/relationships/image" Target="../media/image60.png"/><Relationship Id="rId7" Type="http://schemas.openxmlformats.org/officeDocument/2006/relationships/image" Target="../media/image44.png"/><Relationship Id="rId8" Type="http://schemas.openxmlformats.org/officeDocument/2006/relationships/image" Target="../media/image58.png"/><Relationship Id="rId9" Type="http://schemas.openxmlformats.org/officeDocument/2006/relationships/image" Target="../media/image50.png"/><Relationship Id="rId10" Type="http://schemas.openxmlformats.org/officeDocument/2006/relationships/image" Target="../media/image4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6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5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78.png"/><Relationship Id="rId5" Type="http://schemas.openxmlformats.org/officeDocument/2006/relationships/image" Target="../media/image53.png"/><Relationship Id="rId6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57.png"/><Relationship Id="rId5" Type="http://schemas.openxmlformats.org/officeDocument/2006/relationships/image" Target="../media/image56.png"/><Relationship Id="rId6" Type="http://schemas.openxmlformats.org/officeDocument/2006/relationships/image" Target="../media/image65.png"/><Relationship Id="rId7" Type="http://schemas.openxmlformats.org/officeDocument/2006/relationships/image" Target="../media/image68.png"/><Relationship Id="rId8" Type="http://schemas.openxmlformats.org/officeDocument/2006/relationships/image" Target="../media/image59.png"/><Relationship Id="rId9" Type="http://schemas.openxmlformats.org/officeDocument/2006/relationships/image" Target="../media/image52.png"/><Relationship Id="rId10" Type="http://schemas.openxmlformats.org/officeDocument/2006/relationships/image" Target="../media/image54.png"/><Relationship Id="rId11" Type="http://schemas.openxmlformats.org/officeDocument/2006/relationships/image" Target="../media/image62.png"/><Relationship Id="rId12" Type="http://schemas.openxmlformats.org/officeDocument/2006/relationships/image" Target="../media/image67.png"/><Relationship Id="rId13" Type="http://schemas.openxmlformats.org/officeDocument/2006/relationships/image" Target="../media/image69.png"/><Relationship Id="rId14" Type="http://schemas.openxmlformats.org/officeDocument/2006/relationships/image" Target="../media/image66.png"/><Relationship Id="rId15" Type="http://schemas.openxmlformats.org/officeDocument/2006/relationships/image" Target="../media/image7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47.png"/><Relationship Id="rId5" Type="http://schemas.openxmlformats.org/officeDocument/2006/relationships/image" Target="../media/image64.png"/><Relationship Id="rId6" Type="http://schemas.openxmlformats.org/officeDocument/2006/relationships/image" Target="../media/image74.png"/><Relationship Id="rId7" Type="http://schemas.openxmlformats.org/officeDocument/2006/relationships/image" Target="../media/image79.png"/><Relationship Id="rId8" Type="http://schemas.openxmlformats.org/officeDocument/2006/relationships/image" Target="../media/image7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Relationship Id="rId4" Type="http://schemas.openxmlformats.org/officeDocument/2006/relationships/image" Target="../media/image83.png"/><Relationship Id="rId5" Type="http://schemas.openxmlformats.org/officeDocument/2006/relationships/image" Target="../media/image73.png"/><Relationship Id="rId6" Type="http://schemas.openxmlformats.org/officeDocument/2006/relationships/image" Target="../media/image81.png"/><Relationship Id="rId7" Type="http://schemas.openxmlformats.org/officeDocument/2006/relationships/image" Target="../media/image72.png"/><Relationship Id="rId8" Type="http://schemas.openxmlformats.org/officeDocument/2006/relationships/image" Target="../media/image7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Relationship Id="rId4" Type="http://schemas.openxmlformats.org/officeDocument/2006/relationships/image" Target="../media/image7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Relationship Id="rId4" Type="http://schemas.openxmlformats.org/officeDocument/2006/relationships/image" Target="../media/image47.png"/><Relationship Id="rId5" Type="http://schemas.openxmlformats.org/officeDocument/2006/relationships/image" Target="../media/image89.png"/><Relationship Id="rId6" Type="http://schemas.openxmlformats.org/officeDocument/2006/relationships/image" Target="../media/image87.png"/><Relationship Id="rId7" Type="http://schemas.openxmlformats.org/officeDocument/2006/relationships/image" Target="../media/image8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Relationship Id="rId4" Type="http://schemas.openxmlformats.org/officeDocument/2006/relationships/image" Target="../media/image86.png"/><Relationship Id="rId5" Type="http://schemas.openxmlformats.org/officeDocument/2006/relationships/image" Target="../media/image85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Relationship Id="rId4" Type="http://schemas.openxmlformats.org/officeDocument/2006/relationships/image" Target="../media/image77.png"/><Relationship Id="rId5" Type="http://schemas.openxmlformats.org/officeDocument/2006/relationships/image" Target="../media/image93.png"/><Relationship Id="rId6" Type="http://schemas.openxmlformats.org/officeDocument/2006/relationships/image" Target="../media/image8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Relationship Id="rId4" Type="http://schemas.openxmlformats.org/officeDocument/2006/relationships/image" Target="../media/image90.png"/><Relationship Id="rId5" Type="http://schemas.openxmlformats.org/officeDocument/2006/relationships/image" Target="../media/image88.png"/><Relationship Id="rId6" Type="http://schemas.openxmlformats.org/officeDocument/2006/relationships/image" Target="../media/image8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png"/><Relationship Id="rId4" Type="http://schemas.openxmlformats.org/officeDocument/2006/relationships/image" Target="../media/image90.png"/><Relationship Id="rId5" Type="http://schemas.openxmlformats.org/officeDocument/2006/relationships/image" Target="../media/image88.png"/><Relationship Id="rId6" Type="http://schemas.openxmlformats.org/officeDocument/2006/relationships/image" Target="../media/image10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.png"/><Relationship Id="rId4" Type="http://schemas.openxmlformats.org/officeDocument/2006/relationships/image" Target="../media/image9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png"/><Relationship Id="rId4" Type="http://schemas.openxmlformats.org/officeDocument/2006/relationships/image" Target="../media/image9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.png"/><Relationship Id="rId4" Type="http://schemas.openxmlformats.org/officeDocument/2006/relationships/image" Target="../media/image97.png"/><Relationship Id="rId5" Type="http://schemas.openxmlformats.org/officeDocument/2006/relationships/image" Target="../media/image91.png"/><Relationship Id="rId6" Type="http://schemas.openxmlformats.org/officeDocument/2006/relationships/image" Target="../media/image94.png"/><Relationship Id="rId7" Type="http://schemas.openxmlformats.org/officeDocument/2006/relationships/image" Target="../media/image99.png"/><Relationship Id="rId8" Type="http://schemas.openxmlformats.org/officeDocument/2006/relationships/image" Target="../media/image10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.png"/><Relationship Id="rId4" Type="http://schemas.openxmlformats.org/officeDocument/2006/relationships/image" Target="../media/image96.png"/><Relationship Id="rId5" Type="http://schemas.openxmlformats.org/officeDocument/2006/relationships/image" Target="../media/image95.png"/><Relationship Id="rId6" Type="http://schemas.openxmlformats.org/officeDocument/2006/relationships/image" Target="../media/image100.png"/><Relationship Id="rId7" Type="http://schemas.openxmlformats.org/officeDocument/2006/relationships/image" Target="../media/image11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.png"/><Relationship Id="rId4" Type="http://schemas.openxmlformats.org/officeDocument/2006/relationships/image" Target="../media/image96.png"/><Relationship Id="rId5" Type="http://schemas.openxmlformats.org/officeDocument/2006/relationships/image" Target="../media/image91.png"/><Relationship Id="rId6" Type="http://schemas.openxmlformats.org/officeDocument/2006/relationships/image" Target="../media/image121.png"/><Relationship Id="rId7" Type="http://schemas.openxmlformats.org/officeDocument/2006/relationships/image" Target="../media/image103.png"/><Relationship Id="rId8" Type="http://schemas.openxmlformats.org/officeDocument/2006/relationships/image" Target="../media/image109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.png"/><Relationship Id="rId4" Type="http://schemas.openxmlformats.org/officeDocument/2006/relationships/image" Target="../media/image37.png"/><Relationship Id="rId5" Type="http://schemas.openxmlformats.org/officeDocument/2006/relationships/image" Target="../media/image105.png"/><Relationship Id="rId6" Type="http://schemas.openxmlformats.org/officeDocument/2006/relationships/image" Target="../media/image115.png"/><Relationship Id="rId7" Type="http://schemas.openxmlformats.org/officeDocument/2006/relationships/image" Target="../media/image104.png"/><Relationship Id="rId8" Type="http://schemas.openxmlformats.org/officeDocument/2006/relationships/image" Target="../media/image106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.png"/><Relationship Id="rId4" Type="http://schemas.openxmlformats.org/officeDocument/2006/relationships/image" Target="../media/image107.png"/><Relationship Id="rId5" Type="http://schemas.openxmlformats.org/officeDocument/2006/relationships/image" Target="../media/image108.png"/><Relationship Id="rId6" Type="http://schemas.openxmlformats.org/officeDocument/2006/relationships/image" Target="../media/image112.png"/><Relationship Id="rId7" Type="http://schemas.openxmlformats.org/officeDocument/2006/relationships/image" Target="../media/image110.png"/><Relationship Id="rId8" Type="http://schemas.openxmlformats.org/officeDocument/2006/relationships/image" Target="../media/image111.png"/><Relationship Id="rId9" Type="http://schemas.openxmlformats.org/officeDocument/2006/relationships/image" Target="../media/image117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.png"/><Relationship Id="rId4" Type="http://schemas.openxmlformats.org/officeDocument/2006/relationships/image" Target="../media/image122.png"/><Relationship Id="rId5" Type="http://schemas.openxmlformats.org/officeDocument/2006/relationships/image" Target="../media/image120.png"/><Relationship Id="rId6" Type="http://schemas.openxmlformats.org/officeDocument/2006/relationships/image" Target="../media/image118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.png"/><Relationship Id="rId4" Type="http://schemas.openxmlformats.org/officeDocument/2006/relationships/image" Target="../media/image114.png"/><Relationship Id="rId5" Type="http://schemas.openxmlformats.org/officeDocument/2006/relationships/image" Target="../media/image119.png"/><Relationship Id="rId6" Type="http://schemas.openxmlformats.org/officeDocument/2006/relationships/image" Target="../media/image131.png"/><Relationship Id="rId7" Type="http://schemas.openxmlformats.org/officeDocument/2006/relationships/image" Target="../media/image1.png"/><Relationship Id="rId8" Type="http://schemas.openxmlformats.org/officeDocument/2006/relationships/image" Target="../media/image126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16.png"/><Relationship Id="rId4" Type="http://schemas.openxmlformats.org/officeDocument/2006/relationships/image" Target="../media/image135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.png"/><Relationship Id="rId4" Type="http://schemas.openxmlformats.org/officeDocument/2006/relationships/image" Target="../media/image124.png"/><Relationship Id="rId5" Type="http://schemas.openxmlformats.org/officeDocument/2006/relationships/image" Target="../media/image78.png"/><Relationship Id="rId6" Type="http://schemas.openxmlformats.org/officeDocument/2006/relationships/image" Target="../media/image123.png"/><Relationship Id="rId7" Type="http://schemas.openxmlformats.org/officeDocument/2006/relationships/image" Target="../media/image134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.png"/><Relationship Id="rId4" Type="http://schemas.openxmlformats.org/officeDocument/2006/relationships/image" Target="../media/image37.png"/><Relationship Id="rId5" Type="http://schemas.openxmlformats.org/officeDocument/2006/relationships/image" Target="../media/image132.png"/><Relationship Id="rId6" Type="http://schemas.openxmlformats.org/officeDocument/2006/relationships/image" Target="../media/image125.png"/><Relationship Id="rId7" Type="http://schemas.openxmlformats.org/officeDocument/2006/relationships/image" Target="../media/image128.png"/><Relationship Id="rId8" Type="http://schemas.openxmlformats.org/officeDocument/2006/relationships/image" Target="../media/image127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.png"/><Relationship Id="rId4" Type="http://schemas.openxmlformats.org/officeDocument/2006/relationships/image" Target="../media/image77.png"/><Relationship Id="rId5" Type="http://schemas.openxmlformats.org/officeDocument/2006/relationships/image" Target="../media/image133.png"/><Relationship Id="rId6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.png"/><Relationship Id="rId4" Type="http://schemas.openxmlformats.org/officeDocument/2006/relationships/image" Target="../media/image129.png"/><Relationship Id="rId5" Type="http://schemas.openxmlformats.org/officeDocument/2006/relationships/image" Target="../media/image130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5662612"/>
            <a:ext cx="10648950" cy="5191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2927002"/>
            <a:ext cx="3448050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71975" y="2927002"/>
            <a:ext cx="3448050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72425" y="2927002"/>
            <a:ext cx="3448050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" name="Google Shape;8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3717577"/>
            <a:ext cx="3448050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0" name="Google Shape;90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71975" y="3717577"/>
            <a:ext cx="3448050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72425" y="3717577"/>
            <a:ext cx="3448050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44025" y="247650"/>
            <a:ext cx="20764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 txBox="1"/>
          <p:nvPr/>
        </p:nvSpPr>
        <p:spPr>
          <a:xfrm>
            <a:off x="1533525" y="485775"/>
            <a:ext cx="9124950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COMPUTER &amp; SOFTWARE ENGINEERING DEPARTMENT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1305401" y="766762"/>
            <a:ext cx="9581197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Network </a:t>
            </a:r>
            <a:r>
              <a:rPr b="0" i="0" lang="en-US" sz="2850" u="none" cap="none" strike="noStrik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Intrusion Detection</a:t>
            </a: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&amp; Prevention System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533525" y="1315342"/>
            <a:ext cx="91249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Practical AI-Driven Security Monitoring Pipeline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771525" y="5805487"/>
            <a:ext cx="106489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Supervised by: </a:t>
            </a:r>
            <a:r>
              <a:rPr b="1" i="0" lang="en-US" sz="10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Dr. Suzan Shukry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771525" y="6024562"/>
            <a:ext cx="10648950" cy="15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Misr University for Science and Technology — College of Engineering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895350" y="3050827"/>
            <a:ext cx="3200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Mahmoud Ahmed Elbakry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2214562" y="3298477"/>
            <a:ext cx="56197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200017026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4495800" y="3050827"/>
            <a:ext cx="3200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Ahmed Hani Aldarderi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5810250" y="3298477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200013299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8096250" y="3050827"/>
            <a:ext cx="3200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Mamoun Saeed Mohamed</a:t>
            </a:r>
            <a:endParaRPr/>
          </a:p>
        </p:txBody>
      </p:sp>
      <p:sp>
        <p:nvSpPr>
          <p:cNvPr id="103" name="Google Shape;103;p13"/>
          <p:cNvSpPr txBox="1"/>
          <p:nvPr/>
        </p:nvSpPr>
        <p:spPr>
          <a:xfrm>
            <a:off x="9410700" y="3298477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200013389</a:t>
            </a:r>
            <a:endParaRPr/>
          </a:p>
        </p:txBody>
      </p:sp>
      <p:sp>
        <p:nvSpPr>
          <p:cNvPr id="104" name="Google Shape;104;p13"/>
          <p:cNvSpPr txBox="1"/>
          <p:nvPr/>
        </p:nvSpPr>
        <p:spPr>
          <a:xfrm>
            <a:off x="895350" y="3841402"/>
            <a:ext cx="3200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Mohab Mohamed Shawky</a:t>
            </a:r>
            <a:endParaRPr/>
          </a:p>
        </p:txBody>
      </p:sp>
      <p:sp>
        <p:nvSpPr>
          <p:cNvPr id="105" name="Google Shape;105;p13"/>
          <p:cNvSpPr txBox="1"/>
          <p:nvPr/>
        </p:nvSpPr>
        <p:spPr>
          <a:xfrm>
            <a:off x="2209800" y="4089052"/>
            <a:ext cx="5715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200013394</a:t>
            </a:r>
            <a:endParaRPr/>
          </a:p>
        </p:txBody>
      </p:sp>
      <p:sp>
        <p:nvSpPr>
          <p:cNvPr id="106" name="Google Shape;106;p13"/>
          <p:cNvSpPr txBox="1"/>
          <p:nvPr/>
        </p:nvSpPr>
        <p:spPr>
          <a:xfrm>
            <a:off x="4495800" y="3841402"/>
            <a:ext cx="3200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Mohanad Malek Selim</a:t>
            </a:r>
            <a:endParaRPr/>
          </a:p>
        </p:txBody>
      </p:sp>
      <p:sp>
        <p:nvSpPr>
          <p:cNvPr id="107" name="Google Shape;107;p13"/>
          <p:cNvSpPr txBox="1"/>
          <p:nvPr/>
        </p:nvSpPr>
        <p:spPr>
          <a:xfrm>
            <a:off x="5815012" y="4089052"/>
            <a:ext cx="56197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200010975</a:t>
            </a:r>
            <a:endParaRPr/>
          </a:p>
        </p:txBody>
      </p:sp>
      <p:sp>
        <p:nvSpPr>
          <p:cNvPr id="108" name="Google Shape;108;p13"/>
          <p:cNvSpPr txBox="1"/>
          <p:nvPr/>
        </p:nvSpPr>
        <p:spPr>
          <a:xfrm>
            <a:off x="8096250" y="3841402"/>
            <a:ext cx="3200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Mohammed Essam El Dien</a:t>
            </a:r>
            <a:endParaRPr/>
          </a:p>
        </p:txBody>
      </p:sp>
      <p:sp>
        <p:nvSpPr>
          <p:cNvPr id="109" name="Google Shape;109;p13"/>
          <p:cNvSpPr txBox="1"/>
          <p:nvPr/>
        </p:nvSpPr>
        <p:spPr>
          <a:xfrm>
            <a:off x="9424987" y="4089052"/>
            <a:ext cx="542925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200011805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547937"/>
            <a:ext cx="5133975" cy="2343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590550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 txBox="1"/>
          <p:nvPr/>
        </p:nvSpPr>
        <p:spPr>
          <a:xfrm>
            <a:off x="771525" y="2843361"/>
            <a:ext cx="51339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Modern network architectures present sophisticated threat landscapes that render traditional rule-based firewalls obsolete.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771525" y="3414861"/>
            <a:ext cx="513397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This project introduces an advanced Network Intrusion Detection System that leverages artificial intelligence to achieve superior, adaptive detection capabilities.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771525" y="3955702"/>
            <a:ext cx="5133975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By training on the benchmark dataset CICIDS2017, the proposed framework extracts complex characteristics automatically, significantly outperforming conventional systems.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6524625" y="2786062"/>
            <a:ext cx="489061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Key Research Outcomes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6753225" y="3195637"/>
            <a:ext cx="44291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Comparative analysis between classical ML and deep architectures.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6753225" y="3709987"/>
            <a:ext cx="44291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Elimination of LSTM references to focus on stable ANN models.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6753225" y="4024312"/>
            <a:ext cx="44291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Successful deployment of local model in a live Flask dashboard.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6753225" y="4338637"/>
            <a:ext cx="44291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Generalization verified on high-speed network traffic data.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1057275" y="485775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Project Abstract</a:t>
            </a:r>
            <a:endParaRPr/>
          </a:p>
        </p:txBody>
      </p:sp>
      <p:sp>
        <p:nvSpPr>
          <p:cNvPr id="126" name="Google Shape;126;p14"/>
          <p:cNvSpPr/>
          <p:nvPr/>
        </p:nvSpPr>
        <p:spPr>
          <a:xfrm>
            <a:off x="771525" y="1000125"/>
            <a:ext cx="10648950" cy="190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7" name="Google Shape;12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24625" y="3233737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24625" y="3748087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24625" y="4062412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24625" y="4376737"/>
            <a:ext cx="104775" cy="12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1647825"/>
            <a:ext cx="3422600" cy="19764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4625" y="1647825"/>
            <a:ext cx="3422600" cy="19764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97725" y="1647825"/>
            <a:ext cx="3422749" cy="19764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3814762"/>
            <a:ext cx="3422600" cy="19764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84625" y="3814762"/>
            <a:ext cx="3422600" cy="19764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997725" y="3814762"/>
            <a:ext cx="3422749" cy="19764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09650" y="1885950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622750" y="1885950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235850" y="1885950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09650" y="4052887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622750" y="4052887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235850" y="4052887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71525" y="59055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5"/>
          <p:cNvSpPr txBox="1"/>
          <p:nvPr/>
        </p:nvSpPr>
        <p:spPr>
          <a:xfrm>
            <a:off x="1009650" y="2409825"/>
            <a:ext cx="309366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Foundations &amp; Core Comparison</a:t>
            </a:r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1009650" y="2743200"/>
            <a:ext cx="294635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NIDPS introduction, core security limits, and the direct ML vs. DL architectural contrast.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4622750" y="2409825"/>
            <a:ext cx="309366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Classical ML Track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4622750" y="2743200"/>
            <a:ext cx="294635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Feature scaling, dimensionality reduction, stratified downsampling, and classical algorithm results.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8235850" y="2409825"/>
            <a:ext cx="3093824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Deep Learning (DL) Track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8235850" y="2743200"/>
            <a:ext cx="2946499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ANN dense model deployment, standardized Z-scaling logic, metrics, and false alarm evaluations.</a:t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1009650" y="4576762"/>
            <a:ext cx="309366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Literature Benchmarking</a:t>
            </a:r>
            <a:endParaRPr/>
          </a:p>
        </p:txBody>
      </p:sp>
      <p:sp>
        <p:nvSpPr>
          <p:cNvPr id="156" name="Google Shape;156;p15"/>
          <p:cNvSpPr txBox="1"/>
          <p:nvPr/>
        </p:nvSpPr>
        <p:spPr>
          <a:xfrm>
            <a:off x="1009650" y="4910137"/>
            <a:ext cx="29463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Comparing our ML &amp; DL performance with Zhang, Halbouni, Nawaz, and Zhao et al.</a:t>
            </a:r>
            <a:endParaRPr/>
          </a:p>
        </p:txBody>
      </p:sp>
      <p:sp>
        <p:nvSpPr>
          <p:cNvPr id="157" name="Google Shape;157;p15"/>
          <p:cNvSpPr txBox="1"/>
          <p:nvPr/>
        </p:nvSpPr>
        <p:spPr>
          <a:xfrm>
            <a:off x="4622750" y="4576762"/>
            <a:ext cx="309366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Attack Taxonomy &amp; Lab Setup</a:t>
            </a:r>
            <a:endParaRPr/>
          </a:p>
        </p:txBody>
      </p:sp>
      <p:sp>
        <p:nvSpPr>
          <p:cNvPr id="158" name="Google Shape;158;p15"/>
          <p:cNvSpPr txBox="1"/>
          <p:nvPr/>
        </p:nvSpPr>
        <p:spPr>
          <a:xfrm>
            <a:off x="4622750" y="4910137"/>
            <a:ext cx="294635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Technical workflows of 7 attack categories and isolated laboratory environment details.</a:t>
            </a:r>
            <a:endParaRPr/>
          </a:p>
        </p:txBody>
      </p:sp>
      <p:sp>
        <p:nvSpPr>
          <p:cNvPr id="159" name="Google Shape;159;p15"/>
          <p:cNvSpPr txBox="1"/>
          <p:nvPr/>
        </p:nvSpPr>
        <p:spPr>
          <a:xfrm>
            <a:off x="8235850" y="4576762"/>
            <a:ext cx="3093824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Software Live Deployment</a:t>
            </a:r>
            <a:endParaRPr/>
          </a:p>
        </p:txBody>
      </p:sp>
      <p:sp>
        <p:nvSpPr>
          <p:cNvPr id="160" name="Google Shape;160;p15"/>
          <p:cNvSpPr txBox="1"/>
          <p:nvPr/>
        </p:nvSpPr>
        <p:spPr>
          <a:xfrm>
            <a:off x="8235850" y="4910137"/>
            <a:ext cx="2946499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Five-step pipeline demonstration, Flask dashboard UI, and future enhancements.</a:t>
            </a:r>
            <a:endParaRPr/>
          </a:p>
        </p:txBody>
      </p:sp>
      <p:sp>
        <p:nvSpPr>
          <p:cNvPr id="161" name="Google Shape;161;p15"/>
          <p:cNvSpPr txBox="1"/>
          <p:nvPr/>
        </p:nvSpPr>
        <p:spPr>
          <a:xfrm>
            <a:off x="1114425" y="485775"/>
            <a:ext cx="108213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Presentation Agenda</a:t>
            </a:r>
            <a:endParaRPr/>
          </a:p>
        </p:txBody>
      </p:sp>
      <p:sp>
        <p:nvSpPr>
          <p:cNvPr id="162" name="Google Shape;162;p15"/>
          <p:cNvSpPr/>
          <p:nvPr/>
        </p:nvSpPr>
        <p:spPr>
          <a:xfrm>
            <a:off x="771525" y="1000125"/>
            <a:ext cx="10648950" cy="190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" name="Google Shape;16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6"/>
          <p:cNvSpPr/>
          <p:nvPr/>
        </p:nvSpPr>
        <p:spPr>
          <a:xfrm>
            <a:off x="5619750" y="2626072"/>
            <a:ext cx="9525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6"/>
          <p:cNvSpPr txBox="1"/>
          <p:nvPr/>
        </p:nvSpPr>
        <p:spPr>
          <a:xfrm>
            <a:off x="1360408" y="2902297"/>
            <a:ext cx="9471183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Section 1: Introduction &amp; Fundamentals</a:t>
            </a:r>
            <a:endParaRPr/>
          </a:p>
        </p:txBody>
      </p:sp>
      <p:sp>
        <p:nvSpPr>
          <p:cNvPr id="170" name="Google Shape;170;p16"/>
          <p:cNvSpPr txBox="1"/>
          <p:nvPr/>
        </p:nvSpPr>
        <p:spPr>
          <a:xfrm>
            <a:off x="2762250" y="3730972"/>
            <a:ext cx="66675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The cyber threat landscape, limitations of signature-based defenses, and security paradigm alignment.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881312"/>
            <a:ext cx="2495550" cy="1676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24925" y="2881312"/>
            <a:ext cx="2495550" cy="1676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590550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7"/>
          <p:cNvSpPr txBox="1"/>
          <p:nvPr/>
        </p:nvSpPr>
        <p:spPr>
          <a:xfrm>
            <a:off x="771525" y="2950071"/>
            <a:ext cx="51339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Digital transformation relies heavily on large-scale network infrastructures carrying crucial enterprise data.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771525" y="3521571"/>
            <a:ext cx="513397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rapid growth of networks makes digital communication an essential foundation of modern organizations, universities, and financial services.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771525" y="4062412"/>
            <a:ext cx="513397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Protecting the confidentiality, integrity, and availability (CIA) of transmitted traffic has become a critical operational requirement.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6524625" y="3557587"/>
            <a:ext cx="212026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Massive Scale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6524625" y="3890962"/>
            <a:ext cx="20193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Billions of devices generate packet data.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9163050" y="3557587"/>
            <a:ext cx="212026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High Speed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9163050" y="3890962"/>
            <a:ext cx="20193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Gigabit links carry millions of flows.</a:t>
            </a:r>
            <a:endParaRPr/>
          </a:p>
        </p:txBody>
      </p:sp>
      <p:pic>
        <p:nvPicPr>
          <p:cNvPr descr="image.png" id="186" name="Google Shape;186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24625" y="3148012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63050" y="3148012"/>
            <a:ext cx="23812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7"/>
          <p:cNvSpPr txBox="1"/>
          <p:nvPr/>
        </p:nvSpPr>
        <p:spPr>
          <a:xfrm>
            <a:off x="1171575" y="485775"/>
            <a:ext cx="1076134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Modern Cyber Threat Landscape</a:t>
            </a:r>
            <a:endParaRPr/>
          </a:p>
        </p:txBody>
      </p:sp>
      <p:sp>
        <p:nvSpPr>
          <p:cNvPr id="189" name="Google Shape;189;p17"/>
          <p:cNvSpPr/>
          <p:nvPr/>
        </p:nvSpPr>
        <p:spPr>
          <a:xfrm>
            <a:off x="771525" y="1000125"/>
            <a:ext cx="10648950" cy="190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774156"/>
            <a:ext cx="3422600" cy="18907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4625" y="2774156"/>
            <a:ext cx="3422600" cy="18907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97725" y="2774156"/>
            <a:ext cx="3422749" cy="18907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59055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8"/>
          <p:cNvSpPr txBox="1"/>
          <p:nvPr/>
        </p:nvSpPr>
        <p:spPr>
          <a:xfrm>
            <a:off x="1009650" y="3450431"/>
            <a:ext cx="309366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Signature Blindness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1009650" y="3783806"/>
            <a:ext cx="294635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Standard IDS solutions only recognize known attack patterns. They fail to identify slightly modified or zero-day exploits.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4622750" y="3450431"/>
            <a:ext cx="309366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High False Positives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4622750" y="3783806"/>
            <a:ext cx="294635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Frequent false alarms overwhelm network administrators, causing critical warnings to be missed in the noise.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8235850" y="3450431"/>
            <a:ext cx="3093824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Static Rules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8235850" y="3783806"/>
            <a:ext cx="2946499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Manual rule configuration is slow, expensive, and cannot easily adapt to changing enterprise topologies.</a:t>
            </a:r>
            <a:endParaRPr/>
          </a:p>
        </p:txBody>
      </p:sp>
      <p:pic>
        <p:nvPicPr>
          <p:cNvPr descr="image.png" id="205" name="Google Shape;20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9650" y="3040856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22750" y="3040856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35850" y="3040856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8"/>
          <p:cNvSpPr txBox="1"/>
          <p:nvPr/>
        </p:nvSpPr>
        <p:spPr>
          <a:xfrm>
            <a:off x="1114425" y="485775"/>
            <a:ext cx="108213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Traditional Defense Limitations</a:t>
            </a:r>
            <a:endParaRPr/>
          </a:p>
        </p:txBody>
      </p:sp>
      <p:sp>
        <p:nvSpPr>
          <p:cNvPr id="209" name="Google Shape;209;p18"/>
          <p:cNvSpPr/>
          <p:nvPr/>
        </p:nvSpPr>
        <p:spPr>
          <a:xfrm>
            <a:off x="771525" y="1000125"/>
            <a:ext cx="10648950" cy="190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4" name="Google Shape;21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853779"/>
            <a:ext cx="5133975" cy="17314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59055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9"/>
          <p:cNvSpPr txBox="1"/>
          <p:nvPr/>
        </p:nvSpPr>
        <p:spPr>
          <a:xfrm>
            <a:off x="771525" y="2859583"/>
            <a:ext cx="539067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Dynamic Generalization</a:t>
            </a:r>
            <a:endParaRPr/>
          </a:p>
        </p:txBody>
      </p:sp>
      <p:sp>
        <p:nvSpPr>
          <p:cNvPr id="218" name="Google Shape;218;p19"/>
          <p:cNvSpPr txBox="1"/>
          <p:nvPr/>
        </p:nvSpPr>
        <p:spPr>
          <a:xfrm>
            <a:off x="771525" y="3135808"/>
            <a:ext cx="513397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Instead of matching exact strings, AI models learn the statistical profile of normal behavior—allowing them to flag novel anomalies.</a:t>
            </a:r>
            <a:endParaRPr/>
          </a:p>
        </p:txBody>
      </p:sp>
      <p:pic>
        <p:nvPicPr>
          <p:cNvPr descr="image.png" id="219" name="Google Shape;21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24625" y="3091904"/>
            <a:ext cx="46577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9"/>
          <p:cNvSpPr txBox="1"/>
          <p:nvPr/>
        </p:nvSpPr>
        <p:spPr>
          <a:xfrm>
            <a:off x="6524625" y="3587204"/>
            <a:ext cx="489061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Autonomous Feature Analysis</a:t>
            </a:r>
            <a:endParaRPr/>
          </a:p>
        </p:txBody>
      </p:sp>
      <p:sp>
        <p:nvSpPr>
          <p:cNvPr id="221" name="Google Shape;221;p19"/>
          <p:cNvSpPr txBox="1"/>
          <p:nvPr/>
        </p:nvSpPr>
        <p:spPr>
          <a:xfrm>
            <a:off x="6524625" y="3920579"/>
            <a:ext cx="465772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Moving from handcrafted network rules to statistical algorithms that capture subtle deviations across multiple headers.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1000125" y="3676650"/>
            <a:ext cx="4905375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Processes high-dimensional flow statistics.</a:t>
            </a:r>
            <a:endParaRPr/>
          </a:p>
        </p:txBody>
      </p:sp>
      <p:sp>
        <p:nvSpPr>
          <p:cNvPr id="223" name="Google Shape;223;p19"/>
          <p:cNvSpPr txBox="1"/>
          <p:nvPr/>
        </p:nvSpPr>
        <p:spPr>
          <a:xfrm>
            <a:off x="1000125" y="3977580"/>
            <a:ext cx="4905375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Operates at high speed after training.</a:t>
            </a:r>
            <a:endParaRPr/>
          </a:p>
        </p:txBody>
      </p:sp>
      <p:sp>
        <p:nvSpPr>
          <p:cNvPr id="224" name="Google Shape;224;p19"/>
          <p:cNvSpPr txBox="1"/>
          <p:nvPr/>
        </p:nvSpPr>
        <p:spPr>
          <a:xfrm>
            <a:off x="1000125" y="4278510"/>
            <a:ext cx="4905375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Provides adaptive protection against polymorphic threats.</a:t>
            </a:r>
            <a:endParaRPr/>
          </a:p>
        </p:txBody>
      </p:sp>
      <p:sp>
        <p:nvSpPr>
          <p:cNvPr id="225" name="Google Shape;225;p19"/>
          <p:cNvSpPr txBox="1"/>
          <p:nvPr/>
        </p:nvSpPr>
        <p:spPr>
          <a:xfrm>
            <a:off x="1114425" y="485775"/>
            <a:ext cx="108213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Why AI is the Answer</a:t>
            </a:r>
            <a:endParaRPr/>
          </a:p>
        </p:txBody>
      </p:sp>
      <p:sp>
        <p:nvSpPr>
          <p:cNvPr id="226" name="Google Shape;226;p19"/>
          <p:cNvSpPr/>
          <p:nvPr/>
        </p:nvSpPr>
        <p:spPr>
          <a:xfrm>
            <a:off x="771525" y="1000125"/>
            <a:ext cx="10648950" cy="190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7" name="Google Shape;227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3714750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4015680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4316610"/>
            <a:ext cx="104775" cy="12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4" name="Google Shape;23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740818"/>
            <a:ext cx="3422600" cy="19573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4625" y="2740818"/>
            <a:ext cx="3422600" cy="19573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97725" y="2740818"/>
            <a:ext cx="3422749" cy="19573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59055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0"/>
          <p:cNvSpPr txBox="1"/>
          <p:nvPr/>
        </p:nvSpPr>
        <p:spPr>
          <a:xfrm>
            <a:off x="1009650" y="3417093"/>
            <a:ext cx="309366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Confidentiality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1009650" y="3750468"/>
            <a:ext cx="29463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Ensuring data is not exposed to unauthorized entities.</a:t>
            </a:r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1009650" y="4274343"/>
            <a:ext cx="2946350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Threatened by: Infiltration &amp; Heartbleed</a:t>
            </a:r>
            <a:endParaRPr/>
          </a:p>
        </p:txBody>
      </p:sp>
      <p:sp>
        <p:nvSpPr>
          <p:cNvPr id="242" name="Google Shape;242;p20"/>
          <p:cNvSpPr txBox="1"/>
          <p:nvPr/>
        </p:nvSpPr>
        <p:spPr>
          <a:xfrm>
            <a:off x="4622750" y="3417093"/>
            <a:ext cx="309366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Integrity</a:t>
            </a:r>
            <a:endParaRPr/>
          </a:p>
        </p:txBody>
      </p:sp>
      <p:sp>
        <p:nvSpPr>
          <p:cNvPr id="243" name="Google Shape;243;p20"/>
          <p:cNvSpPr txBox="1"/>
          <p:nvPr/>
        </p:nvSpPr>
        <p:spPr>
          <a:xfrm>
            <a:off x="4622750" y="3750468"/>
            <a:ext cx="294635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Preventing unauthorized modifications of systems and traffic.</a:t>
            </a:r>
            <a:endParaRPr/>
          </a:p>
        </p:txBody>
      </p:sp>
      <p:sp>
        <p:nvSpPr>
          <p:cNvPr id="244" name="Google Shape;244;p20"/>
          <p:cNvSpPr txBox="1"/>
          <p:nvPr/>
        </p:nvSpPr>
        <p:spPr>
          <a:xfrm>
            <a:off x="4622750" y="4274343"/>
            <a:ext cx="2946350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Threatened by: Web Attacks &amp; Backdoors</a:t>
            </a:r>
            <a:endParaRPr/>
          </a:p>
        </p:txBody>
      </p:sp>
      <p:sp>
        <p:nvSpPr>
          <p:cNvPr id="245" name="Google Shape;245;p20"/>
          <p:cNvSpPr txBox="1"/>
          <p:nvPr/>
        </p:nvSpPr>
        <p:spPr>
          <a:xfrm>
            <a:off x="8235850" y="3417093"/>
            <a:ext cx="3093824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Availability</a:t>
            </a:r>
            <a:endParaRPr/>
          </a:p>
        </p:txBody>
      </p:sp>
      <p:sp>
        <p:nvSpPr>
          <p:cNvPr id="246" name="Google Shape;246;p20"/>
          <p:cNvSpPr txBox="1"/>
          <p:nvPr/>
        </p:nvSpPr>
        <p:spPr>
          <a:xfrm>
            <a:off x="8235850" y="3750468"/>
            <a:ext cx="2946499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Ensuring resources remain accessible to authorized users.</a:t>
            </a:r>
            <a:endParaRPr/>
          </a:p>
        </p:txBody>
      </p:sp>
      <p:sp>
        <p:nvSpPr>
          <p:cNvPr id="247" name="Google Shape;247;p20"/>
          <p:cNvSpPr txBox="1"/>
          <p:nvPr/>
        </p:nvSpPr>
        <p:spPr>
          <a:xfrm>
            <a:off x="8235850" y="4274343"/>
            <a:ext cx="2946499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Threatened by: DoS &amp; DDoS Attacks</a:t>
            </a:r>
            <a:endParaRPr/>
          </a:p>
        </p:txBody>
      </p:sp>
      <p:pic>
        <p:nvPicPr>
          <p:cNvPr descr="image.png" id="248" name="Google Shape;24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9650" y="3007518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22750" y="3007518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35850" y="3007518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0"/>
          <p:cNvSpPr txBox="1"/>
          <p:nvPr/>
        </p:nvSpPr>
        <p:spPr>
          <a:xfrm>
            <a:off x="1114425" y="485775"/>
            <a:ext cx="108213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CIA Triad Alignment</a:t>
            </a:r>
            <a:endParaRPr/>
          </a:p>
        </p:txBody>
      </p:sp>
      <p:sp>
        <p:nvSpPr>
          <p:cNvPr id="252" name="Google Shape;252;p20"/>
          <p:cNvSpPr/>
          <p:nvPr/>
        </p:nvSpPr>
        <p:spPr>
          <a:xfrm>
            <a:off x="771525" y="1000125"/>
            <a:ext cx="10648950" cy="190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7" name="Google Shape;25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1"/>
          <p:cNvSpPr/>
          <p:nvPr/>
        </p:nvSpPr>
        <p:spPr>
          <a:xfrm>
            <a:off x="5619750" y="2626072"/>
            <a:ext cx="9525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2288024" y="2902297"/>
            <a:ext cx="7615951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Section 2: ML vs. DL Comparison</a:t>
            </a:r>
            <a:endParaRPr/>
          </a:p>
        </p:txBody>
      </p:sp>
      <p:sp>
        <p:nvSpPr>
          <p:cNvPr id="260" name="Google Shape;260;p21"/>
          <p:cNvSpPr txBox="1"/>
          <p:nvPr/>
        </p:nvSpPr>
        <p:spPr>
          <a:xfrm>
            <a:off x="2762250" y="3730972"/>
            <a:ext cx="66675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Evaluating feature representations, computational requirements, and accuracy ceilings in high-dimensional flow environments.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5" name="Google Shape;26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590550"/>
            <a:ext cx="228600" cy="228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67" name="Google Shape;267;p22"/>
          <p:cNvGraphicFramePr/>
          <p:nvPr/>
        </p:nvGraphicFramePr>
        <p:xfrm>
          <a:off x="771525" y="25098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{2A9026A8-B2F2-45B2-8AF8-5DC6FBDDCD7D}</a:tableStyleId>
              </a:tblPr>
              <a:tblGrid>
                <a:gridCol w="1933875"/>
                <a:gridCol w="4047225"/>
                <a:gridCol w="4658325"/>
              </a:tblGrid>
              <a:tr h="40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Characteristic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Machine Learning (ML)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Deep Learning (DL)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0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Feature Engineering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Manual (requires expert selection of parameters)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Automatic (features extracted dynamically through layers)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Computational Load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Low training time; fast execution on standard CPU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 training resource consumption; benefits from GPUs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Data Requirements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Performs well on smaller datasets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Needs large datasets to be effective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Accuracy Ceiling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Plateaus once features are exhausted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Keeps improving as more data is added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Best At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Clear, well-separated class boundaries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Subtle, high-dimensional, nonlinear patterns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  <a:r>
                        <a:rPr lang="en-US"/>
                        <a:t>Features Used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  <a:r>
                        <a:rPr lang="en-US"/>
                        <a:t>16 manually selected flow-level features (TCP flags, packet lengths, flow rates — real-time extractable)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  <a:r>
                        <a:rPr lang="en-US"/>
                        <a:t>68 full cleaned columns (automatic weight selection via backpropagation — no manual engineering)</a:t>
                      </a: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8" name="Google Shape;268;p22"/>
          <p:cNvSpPr/>
          <p:nvPr/>
        </p:nvSpPr>
        <p:spPr>
          <a:xfrm>
            <a:off x="776287" y="2900362"/>
            <a:ext cx="1933872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2"/>
          <p:cNvSpPr/>
          <p:nvPr/>
        </p:nvSpPr>
        <p:spPr>
          <a:xfrm>
            <a:off x="2710160" y="2900362"/>
            <a:ext cx="4047232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2"/>
          <p:cNvSpPr/>
          <p:nvPr/>
        </p:nvSpPr>
        <p:spPr>
          <a:xfrm>
            <a:off x="6757392" y="2900362"/>
            <a:ext cx="465832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2"/>
          <p:cNvSpPr/>
          <p:nvPr/>
        </p:nvSpPr>
        <p:spPr>
          <a:xfrm>
            <a:off x="776287" y="3314700"/>
            <a:ext cx="19338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2"/>
          <p:cNvSpPr/>
          <p:nvPr/>
        </p:nvSpPr>
        <p:spPr>
          <a:xfrm>
            <a:off x="2710160" y="3314700"/>
            <a:ext cx="40472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2"/>
          <p:cNvSpPr/>
          <p:nvPr/>
        </p:nvSpPr>
        <p:spPr>
          <a:xfrm>
            <a:off x="6757392" y="3314700"/>
            <a:ext cx="46583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2"/>
          <p:cNvSpPr/>
          <p:nvPr/>
        </p:nvSpPr>
        <p:spPr>
          <a:xfrm>
            <a:off x="776287" y="3714750"/>
            <a:ext cx="19338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2"/>
          <p:cNvSpPr/>
          <p:nvPr/>
        </p:nvSpPr>
        <p:spPr>
          <a:xfrm>
            <a:off x="2710160" y="3714750"/>
            <a:ext cx="40472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2"/>
          <p:cNvSpPr/>
          <p:nvPr/>
        </p:nvSpPr>
        <p:spPr>
          <a:xfrm>
            <a:off x="6757392" y="3714750"/>
            <a:ext cx="46583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2"/>
          <p:cNvSpPr/>
          <p:nvPr/>
        </p:nvSpPr>
        <p:spPr>
          <a:xfrm>
            <a:off x="776287" y="4114800"/>
            <a:ext cx="19338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2"/>
          <p:cNvSpPr/>
          <p:nvPr/>
        </p:nvSpPr>
        <p:spPr>
          <a:xfrm>
            <a:off x="2710160" y="4114800"/>
            <a:ext cx="40472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2"/>
          <p:cNvSpPr/>
          <p:nvPr/>
        </p:nvSpPr>
        <p:spPr>
          <a:xfrm>
            <a:off x="6757392" y="4114800"/>
            <a:ext cx="46583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2"/>
          <p:cNvSpPr/>
          <p:nvPr/>
        </p:nvSpPr>
        <p:spPr>
          <a:xfrm>
            <a:off x="776287" y="4514850"/>
            <a:ext cx="193387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2"/>
          <p:cNvSpPr/>
          <p:nvPr/>
        </p:nvSpPr>
        <p:spPr>
          <a:xfrm>
            <a:off x="2710160" y="4514850"/>
            <a:ext cx="40472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2"/>
          <p:cNvSpPr/>
          <p:nvPr/>
        </p:nvSpPr>
        <p:spPr>
          <a:xfrm>
            <a:off x="6757392" y="4514850"/>
            <a:ext cx="46583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2"/>
          <p:cNvSpPr txBox="1"/>
          <p:nvPr/>
        </p:nvSpPr>
        <p:spPr>
          <a:xfrm>
            <a:off x="1114425" y="485775"/>
            <a:ext cx="108213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Machine Learning vs. Deep Learning</a:t>
            </a:r>
            <a:endParaRPr/>
          </a:p>
        </p:txBody>
      </p:sp>
      <p:sp>
        <p:nvSpPr>
          <p:cNvPr id="284" name="Google Shape;284;p22"/>
          <p:cNvSpPr/>
          <p:nvPr/>
        </p:nvSpPr>
        <p:spPr>
          <a:xfrm>
            <a:off x="771525" y="1000125"/>
            <a:ext cx="10648950" cy="190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9" name="Google Shape;28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733823"/>
            <a:ext cx="5133975" cy="17579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733823"/>
            <a:ext cx="5133975" cy="1971228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3"/>
          <p:cNvSpPr txBox="1"/>
          <p:nvPr/>
        </p:nvSpPr>
        <p:spPr>
          <a:xfrm>
            <a:off x="1009650" y="2971948"/>
            <a:ext cx="489061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952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Classical ML Representation</a:t>
            </a:r>
            <a:endParaRPr/>
          </a:p>
        </p:txBody>
      </p:sp>
      <p:sp>
        <p:nvSpPr>
          <p:cNvPr id="293" name="Google Shape;293;p23"/>
          <p:cNvSpPr txBox="1"/>
          <p:nvPr/>
        </p:nvSpPr>
        <p:spPr>
          <a:xfrm>
            <a:off x="1009650" y="3305323"/>
            <a:ext cx="465772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Relies heavily on </a:t>
            </a: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manual feature extraction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 Domain experts must analyze packet sizes and select discriminative indices offline.</a:t>
            </a:r>
            <a:endParaRPr/>
          </a:p>
        </p:txBody>
      </p:sp>
      <p:sp>
        <p:nvSpPr>
          <p:cNvPr id="294" name="Google Shape;294;p23"/>
          <p:cNvSpPr txBox="1"/>
          <p:nvPr/>
        </p:nvSpPr>
        <p:spPr>
          <a:xfrm>
            <a:off x="1009650" y="3827115"/>
            <a:ext cx="465772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selected features are passed as static fields to simple shallow estimators, limiting behavioral pattern modeling.</a:t>
            </a:r>
            <a:endParaRPr/>
          </a:p>
        </p:txBody>
      </p:sp>
      <p:sp>
        <p:nvSpPr>
          <p:cNvPr id="295" name="Google Shape;295;p23"/>
          <p:cNvSpPr txBox="1"/>
          <p:nvPr/>
        </p:nvSpPr>
        <p:spPr>
          <a:xfrm>
            <a:off x="6524625" y="2971948"/>
            <a:ext cx="489061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952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Deep Learning Auto-Extraction</a:t>
            </a:r>
            <a:endParaRPr/>
          </a:p>
        </p:txBody>
      </p:sp>
      <p:sp>
        <p:nvSpPr>
          <p:cNvPr id="296" name="Google Shape;296;p23"/>
          <p:cNvSpPr txBox="1"/>
          <p:nvPr/>
        </p:nvSpPr>
        <p:spPr>
          <a:xfrm>
            <a:off x="6524625" y="3305323"/>
            <a:ext cx="4657725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Features are fed into </a:t>
            </a: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stacked feed-forward dense layers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 Lower hidden layers learn simple linear variances, while deeper layers automatically synthesize complex, high-dimensional nonlinear relationships.</a:t>
            </a:r>
            <a:endParaRPr/>
          </a:p>
        </p:txBody>
      </p:sp>
      <p:sp>
        <p:nvSpPr>
          <p:cNvPr id="297" name="Google Shape;297;p23"/>
          <p:cNvSpPr txBox="1"/>
          <p:nvPr/>
        </p:nvSpPr>
        <p:spPr>
          <a:xfrm>
            <a:off x="6524625" y="4040385"/>
            <a:ext cx="465772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Eliminates manual bias, allowing the detector to capture subtle variations hidden in traffic timing and multi-packet header structures.</a:t>
            </a:r>
            <a:endParaRPr/>
          </a:p>
        </p:txBody>
      </p:sp>
      <p:pic>
        <p:nvPicPr>
          <p:cNvPr descr="image.png" id="298" name="Google Shape;298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9650" y="3019573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24625" y="3019573"/>
            <a:ext cx="2190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3"/>
          <p:cNvSpPr txBox="1"/>
          <p:nvPr/>
        </p:nvSpPr>
        <p:spPr>
          <a:xfrm>
            <a:off x="885825" y="485775"/>
            <a:ext cx="1106138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Architectural Representation Contrast</a:t>
            </a:r>
            <a:endParaRPr/>
          </a:p>
        </p:txBody>
      </p:sp>
      <p:sp>
        <p:nvSpPr>
          <p:cNvPr id="301" name="Google Shape;301;p23"/>
          <p:cNvSpPr/>
          <p:nvPr/>
        </p:nvSpPr>
        <p:spPr>
          <a:xfrm>
            <a:off x="771525" y="1000125"/>
            <a:ext cx="10648950" cy="190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6" name="Google Shape;30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4"/>
          <p:cNvSpPr/>
          <p:nvPr/>
        </p:nvSpPr>
        <p:spPr>
          <a:xfrm>
            <a:off x="5619750" y="2626072"/>
            <a:ext cx="9525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4"/>
          <p:cNvSpPr txBox="1"/>
          <p:nvPr/>
        </p:nvSpPr>
        <p:spPr>
          <a:xfrm>
            <a:off x="837842" y="2902297"/>
            <a:ext cx="10516314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Section 3: Classical Machine Learning Track</a:t>
            </a:r>
            <a:endParaRPr/>
          </a:p>
        </p:txBody>
      </p:sp>
      <p:sp>
        <p:nvSpPr>
          <p:cNvPr id="309" name="Google Shape;309;p24"/>
          <p:cNvSpPr txBox="1"/>
          <p:nvPr/>
        </p:nvSpPr>
        <p:spPr>
          <a:xfrm>
            <a:off x="2762250" y="3730972"/>
            <a:ext cx="66675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 parallel detection pipeline focused on multi-class typing, class rebalancing, and execution efficiency.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4" name="Google Shape;31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840533"/>
            <a:ext cx="5133975" cy="17579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59055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5"/>
          <p:cNvSpPr txBox="1"/>
          <p:nvPr/>
        </p:nvSpPr>
        <p:spPr>
          <a:xfrm>
            <a:off x="771525" y="2859583"/>
            <a:ext cx="539067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Handling Packet Anomaly Flaws</a:t>
            </a:r>
            <a:endParaRPr/>
          </a:p>
        </p:txBody>
      </p:sp>
      <p:sp>
        <p:nvSpPr>
          <p:cNvPr id="318" name="Google Shape;318;p25"/>
          <p:cNvSpPr txBox="1"/>
          <p:nvPr/>
        </p:nvSpPr>
        <p:spPr>
          <a:xfrm>
            <a:off x="771525" y="3135808"/>
            <a:ext cx="513397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Original traffic exports contain invalid values resulting from division-by-zero errors (e.g. packet rates on zero flow duration).</a:t>
            </a:r>
            <a:endParaRPr/>
          </a:p>
        </p:txBody>
      </p:sp>
      <p:sp>
        <p:nvSpPr>
          <p:cNvPr id="319" name="Google Shape;319;p25"/>
          <p:cNvSpPr txBox="1"/>
          <p:nvPr/>
        </p:nvSpPr>
        <p:spPr>
          <a:xfrm>
            <a:off x="6524625" y="3078658"/>
            <a:ext cx="489061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Pipeline Consistency</a:t>
            </a:r>
            <a:endParaRPr/>
          </a:p>
        </p:txBody>
      </p:sp>
      <p:sp>
        <p:nvSpPr>
          <p:cNvPr id="320" name="Google Shape;320;p25"/>
          <p:cNvSpPr txBox="1"/>
          <p:nvPr/>
        </p:nvSpPr>
        <p:spPr>
          <a:xfrm>
            <a:off x="6524625" y="3412033"/>
            <a:ext cx="4657725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Preprocessing acts as a gatekeeper. By dropping corrupted lines in the training data, the model avoids gradient explosion and mathematical weight instability.</a:t>
            </a:r>
            <a:endParaRPr/>
          </a:p>
        </p:txBody>
      </p:sp>
      <p:sp>
        <p:nvSpPr>
          <p:cNvPr id="321" name="Google Shape;321;p25"/>
          <p:cNvSpPr txBox="1"/>
          <p:nvPr/>
        </p:nvSpPr>
        <p:spPr>
          <a:xfrm>
            <a:off x="6524625" y="4147095"/>
            <a:ext cx="46577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same clean parameters are locked to ensure stable runtime operation.</a:t>
            </a:r>
            <a:endParaRPr/>
          </a:p>
        </p:txBody>
      </p:sp>
      <p:sp>
        <p:nvSpPr>
          <p:cNvPr id="322" name="Google Shape;322;p25"/>
          <p:cNvSpPr txBox="1"/>
          <p:nvPr/>
        </p:nvSpPr>
        <p:spPr>
          <a:xfrm>
            <a:off x="1000125" y="3676650"/>
            <a:ext cx="4905375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Aggressive removal of </a:t>
            </a: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NaN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records.</a:t>
            </a:r>
            <a:endParaRPr/>
          </a:p>
        </p:txBody>
      </p:sp>
      <p:sp>
        <p:nvSpPr>
          <p:cNvPr id="323" name="Google Shape;323;p25"/>
          <p:cNvSpPr txBox="1"/>
          <p:nvPr/>
        </p:nvSpPr>
        <p:spPr>
          <a:xfrm>
            <a:off x="1000125" y="3977580"/>
            <a:ext cx="4905375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Purging of all </a:t>
            </a: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Infinite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values.</a:t>
            </a:r>
            <a:endParaRPr/>
          </a:p>
        </p:txBody>
      </p:sp>
      <p:sp>
        <p:nvSpPr>
          <p:cNvPr id="324" name="Google Shape;324;p25"/>
          <p:cNvSpPr txBox="1"/>
          <p:nvPr/>
        </p:nvSpPr>
        <p:spPr>
          <a:xfrm>
            <a:off x="1000125" y="4278510"/>
            <a:ext cx="4905375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Ensuring 100% clean numerical feature representations.</a:t>
            </a:r>
            <a:endParaRPr/>
          </a:p>
        </p:txBody>
      </p:sp>
      <p:sp>
        <p:nvSpPr>
          <p:cNvPr id="325" name="Google Shape;325;p25"/>
          <p:cNvSpPr txBox="1"/>
          <p:nvPr/>
        </p:nvSpPr>
        <p:spPr>
          <a:xfrm>
            <a:off x="1114425" y="485775"/>
            <a:ext cx="108213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ML Preprocessing &amp; Data Cleaning</a:t>
            </a:r>
            <a:endParaRPr/>
          </a:p>
        </p:txBody>
      </p:sp>
      <p:sp>
        <p:nvSpPr>
          <p:cNvPr id="326" name="Google Shape;326;p25"/>
          <p:cNvSpPr/>
          <p:nvPr/>
        </p:nvSpPr>
        <p:spPr>
          <a:xfrm>
            <a:off x="771525" y="1000125"/>
            <a:ext cx="10648950" cy="190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27" name="Google Shape;327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3714750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8" name="Google Shape;328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4015680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9" name="Google Shape;329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4316610"/>
            <a:ext cx="104775" cy="12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4" name="Google Shape;33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5" name="Google Shape;33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733823"/>
            <a:ext cx="5133975" cy="19712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6" name="Google Shape;336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59055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6"/>
          <p:cNvSpPr txBox="1"/>
          <p:nvPr/>
        </p:nvSpPr>
        <p:spPr>
          <a:xfrm>
            <a:off x="771525" y="3097559"/>
            <a:ext cx="539067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Dimensionality Reduction</a:t>
            </a:r>
            <a:endParaRPr/>
          </a:p>
        </p:txBody>
      </p:sp>
      <p:sp>
        <p:nvSpPr>
          <p:cNvPr id="338" name="Google Shape;338;p26"/>
          <p:cNvSpPr txBox="1"/>
          <p:nvPr/>
        </p:nvSpPr>
        <p:spPr>
          <a:xfrm>
            <a:off x="771525" y="3373784"/>
            <a:ext cx="513397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To optimize hardware usage in high-speed settings, the feature space was aggressively reduced from 80 to 16 critical features.</a:t>
            </a: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/>
          </a:p>
        </p:txBody>
      </p:sp>
      <p:sp>
        <p:nvSpPr>
          <p:cNvPr id="339" name="Google Shape;339;p26"/>
          <p:cNvSpPr txBox="1"/>
          <p:nvPr/>
        </p:nvSpPr>
        <p:spPr>
          <a:xfrm>
            <a:off x="771525" y="3914626"/>
            <a:ext cx="513397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This feature pruning achieved a </a:t>
            </a: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80% reduction in computing overhead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while maintaining excellent discriminative power.</a:t>
            </a:r>
            <a:endParaRPr/>
          </a:p>
        </p:txBody>
      </p:sp>
      <p:sp>
        <p:nvSpPr>
          <p:cNvPr id="340" name="Google Shape;340;p26"/>
          <p:cNvSpPr txBox="1"/>
          <p:nvPr/>
        </p:nvSpPr>
        <p:spPr>
          <a:xfrm>
            <a:off x="6524625" y="2971948"/>
            <a:ext cx="489061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Stratified Downsampling</a:t>
            </a:r>
            <a:endParaRPr/>
          </a:p>
        </p:txBody>
      </p:sp>
      <p:sp>
        <p:nvSpPr>
          <p:cNvPr id="341" name="Google Shape;341;p26"/>
          <p:cNvSpPr txBox="1"/>
          <p:nvPr/>
        </p:nvSpPr>
        <p:spPr>
          <a:xfrm>
            <a:off x="6524625" y="3305323"/>
            <a:ext cx="465772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Network traffic datasets suffer from extreme class imbalances (normal traffic vastly outnumbers attacks).</a:t>
            </a:r>
            <a:endParaRPr/>
          </a:p>
        </p:txBody>
      </p:sp>
      <p:sp>
        <p:nvSpPr>
          <p:cNvPr id="342" name="Google Shape;342;p26"/>
          <p:cNvSpPr txBox="1"/>
          <p:nvPr/>
        </p:nvSpPr>
        <p:spPr>
          <a:xfrm>
            <a:off x="6524625" y="3827115"/>
            <a:ext cx="4657725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We applied stratified downsampling — capping BENIGN at 200,000 and attack classes at 80,000 — to balance class distribution without introducing synthetic data bias.</a:t>
            </a: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/>
          </a:p>
        </p:txBody>
      </p:sp>
      <p:sp>
        <p:nvSpPr>
          <p:cNvPr id="343" name="Google Shape;343;p26"/>
          <p:cNvSpPr txBox="1"/>
          <p:nvPr/>
        </p:nvSpPr>
        <p:spPr>
          <a:xfrm>
            <a:off x="1114425" y="485775"/>
            <a:ext cx="108213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ML Pipeline: Features &amp; Class Balancing</a:t>
            </a:r>
            <a:endParaRPr/>
          </a:p>
        </p:txBody>
      </p:sp>
      <p:sp>
        <p:nvSpPr>
          <p:cNvPr id="344" name="Google Shape;344;p26"/>
          <p:cNvSpPr/>
          <p:nvPr/>
        </p:nvSpPr>
        <p:spPr>
          <a:xfrm>
            <a:off x="771525" y="1000125"/>
            <a:ext cx="10648950" cy="190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9" name="Google Shape;34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0" name="Google Shape;35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1257300"/>
            <a:ext cx="10648950" cy="4924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1" name="Google Shape;351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59055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7"/>
          <p:cNvSpPr txBox="1"/>
          <p:nvPr/>
        </p:nvSpPr>
        <p:spPr>
          <a:xfrm>
            <a:off x="771525" y="4536281"/>
            <a:ext cx="10648950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Feature importance derived from our trained XGBoost model using gain-based scoring (average loss reduction per split).</a:t>
            </a:r>
            <a:endParaRPr/>
          </a:p>
        </p:txBody>
      </p:sp>
      <p:sp>
        <p:nvSpPr>
          <p:cNvPr id="353" name="Google Shape;353;p27"/>
          <p:cNvSpPr txBox="1"/>
          <p:nvPr/>
        </p:nvSpPr>
        <p:spPr>
          <a:xfrm>
            <a:off x="1114425" y="485775"/>
            <a:ext cx="108213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Key Discriminant Features in Classical ML</a:t>
            </a:r>
            <a:endParaRPr/>
          </a:p>
        </p:txBody>
      </p:sp>
      <p:sp>
        <p:nvSpPr>
          <p:cNvPr id="354" name="Google Shape;354;p27"/>
          <p:cNvSpPr/>
          <p:nvPr/>
        </p:nvSpPr>
        <p:spPr>
          <a:xfrm>
            <a:off x="771525" y="1000125"/>
            <a:ext cx="10648950" cy="190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9" name="Google Shape;35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0" name="Google Shape;36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686050"/>
            <a:ext cx="3397150" cy="2066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1" name="Google Shape;361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97275" y="2686050"/>
            <a:ext cx="3397299" cy="2066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2" name="Google Shape;362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23175" y="2686050"/>
            <a:ext cx="3397150" cy="2066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3" name="Google Shape;363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59055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28"/>
          <p:cNvSpPr txBox="1"/>
          <p:nvPr/>
        </p:nvSpPr>
        <p:spPr>
          <a:xfrm>
            <a:off x="1009650" y="3362325"/>
            <a:ext cx="306694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Random Forest</a:t>
            </a:r>
            <a:endParaRPr/>
          </a:p>
        </p:txBody>
      </p:sp>
      <p:sp>
        <p:nvSpPr>
          <p:cNvPr id="365" name="Google Shape;365;p28"/>
          <p:cNvSpPr txBox="1"/>
          <p:nvPr/>
        </p:nvSpPr>
        <p:spPr>
          <a:xfrm>
            <a:off x="1009650" y="3695700"/>
            <a:ext cx="29209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Parameters: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100 Trees; Criterion: Gini; Max Depth: Uncapped.</a:t>
            </a:r>
            <a:endParaRPr/>
          </a:p>
        </p:txBody>
      </p:sp>
      <p:sp>
        <p:nvSpPr>
          <p:cNvPr id="366" name="Google Shape;366;p28"/>
          <p:cNvSpPr txBox="1"/>
          <p:nvPr/>
        </p:nvSpPr>
        <p:spPr>
          <a:xfrm>
            <a:off x="1009650" y="4143375"/>
            <a:ext cx="29209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Ensures strong multi-class ensemble voting by combining weak decision splits.</a:t>
            </a:r>
            <a:endParaRPr/>
          </a:p>
        </p:txBody>
      </p:sp>
      <p:sp>
        <p:nvSpPr>
          <p:cNvPr id="367" name="Google Shape;367;p28"/>
          <p:cNvSpPr txBox="1"/>
          <p:nvPr/>
        </p:nvSpPr>
        <p:spPr>
          <a:xfrm>
            <a:off x="4635400" y="3362325"/>
            <a:ext cx="306710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XGBoost</a:t>
            </a:r>
            <a:endParaRPr/>
          </a:p>
        </p:txBody>
      </p:sp>
      <p:sp>
        <p:nvSpPr>
          <p:cNvPr id="368" name="Google Shape;368;p28"/>
          <p:cNvSpPr txBox="1"/>
          <p:nvPr/>
        </p:nvSpPr>
        <p:spPr>
          <a:xfrm>
            <a:off x="4635400" y="3695700"/>
            <a:ext cx="292104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Parameters: 200 boosting rounds; Learning rate: 0.1; Max Depth: 8.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/>
          </a:p>
        </p:txBody>
      </p:sp>
      <p:sp>
        <p:nvSpPr>
          <p:cNvPr id="369" name="Google Shape;369;p28"/>
          <p:cNvSpPr txBox="1"/>
          <p:nvPr/>
        </p:nvSpPr>
        <p:spPr>
          <a:xfrm>
            <a:off x="4635400" y="4143375"/>
            <a:ext cx="292104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Uses sequential corrective gradient trees to optimize memory constraints.</a:t>
            </a:r>
            <a:endParaRPr/>
          </a:p>
        </p:txBody>
      </p:sp>
      <p:sp>
        <p:nvSpPr>
          <p:cNvPr id="370" name="Google Shape;370;p28"/>
          <p:cNvSpPr txBox="1"/>
          <p:nvPr/>
        </p:nvSpPr>
        <p:spPr>
          <a:xfrm>
            <a:off x="8261300" y="3362325"/>
            <a:ext cx="306694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k-NN</a:t>
            </a:r>
            <a:endParaRPr/>
          </a:p>
        </p:txBody>
      </p:sp>
      <p:sp>
        <p:nvSpPr>
          <p:cNvPr id="371" name="Google Shape;371;p28"/>
          <p:cNvSpPr txBox="1"/>
          <p:nvPr/>
        </p:nvSpPr>
        <p:spPr>
          <a:xfrm>
            <a:off x="8261300" y="3695700"/>
            <a:ext cx="29209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Parameters: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k=5 Neighbors; Metric: Euclidean Minkowski distance.</a:t>
            </a:r>
            <a:endParaRPr/>
          </a:p>
        </p:txBody>
      </p:sp>
      <p:sp>
        <p:nvSpPr>
          <p:cNvPr id="372" name="Google Shape;372;p28"/>
          <p:cNvSpPr txBox="1"/>
          <p:nvPr/>
        </p:nvSpPr>
        <p:spPr>
          <a:xfrm>
            <a:off x="8261300" y="4143375"/>
            <a:ext cx="29209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Calculates nearest distance neighbors. Computationally slow for production.</a:t>
            </a:r>
            <a:endParaRPr/>
          </a:p>
        </p:txBody>
      </p:sp>
      <p:pic>
        <p:nvPicPr>
          <p:cNvPr descr="image.png" id="373" name="Google Shape;373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09650" y="2952750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4" name="Google Shape;374;p2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35400" y="295275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5" name="Google Shape;375;p2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261300" y="2952750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28"/>
          <p:cNvSpPr txBox="1"/>
          <p:nvPr/>
        </p:nvSpPr>
        <p:spPr>
          <a:xfrm>
            <a:off x="1114425" y="485775"/>
            <a:ext cx="108213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Classical ML Model Configurations</a:t>
            </a:r>
            <a:endParaRPr/>
          </a:p>
        </p:txBody>
      </p:sp>
      <p:sp>
        <p:nvSpPr>
          <p:cNvPr id="377" name="Google Shape;377;p28"/>
          <p:cNvSpPr/>
          <p:nvPr/>
        </p:nvSpPr>
        <p:spPr>
          <a:xfrm>
            <a:off x="771525" y="1000125"/>
            <a:ext cx="10648950" cy="190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2" name="Google Shape;38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3" name="Google Shape;383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590550"/>
            <a:ext cx="228600" cy="228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84" name="Google Shape;384;p29"/>
          <p:cNvGraphicFramePr/>
          <p:nvPr/>
        </p:nvGraphicFramePr>
        <p:xfrm>
          <a:off x="771525" y="29098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{2A9026A8-B2F2-45B2-8AF8-5DC6FBDDCD7D}</a:tableStyleId>
              </a:tblPr>
              <a:tblGrid>
                <a:gridCol w="2802575"/>
                <a:gridCol w="1594700"/>
                <a:gridCol w="1547075"/>
                <a:gridCol w="4695075"/>
              </a:tblGrid>
              <a:tr h="4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Algorithm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Task Target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Test Accuracy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Notable Multi-Class Strengths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Random Forest (RF)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8-Class Tabular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16A34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95.81%</a:t>
                      </a:r>
                      <a:r>
                        <a:rPr lang="en-US" sz="1050">
                          <a:solidFill>
                            <a:srgbClr val="16A34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/>
                      </a:r>
                      <a:r>
                        <a:rPr b="0" i="0" lang="en-US" sz="1050" u="none" cap="none" strike="noStrike">
                          <a:solidFill>
                            <a:srgbClr val="16A34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Highest Botnet recall (98.64%); strong DDoS (99.88%) and FTP-Patator (99.79%)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XGBoost (Winning Prototype)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8-Class Tabular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>
                          <a:solidFill>
                            <a:srgbClr val="16A34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97.99%</a:t>
                      </a:r>
                      <a:r>
                        <a:rPr b="0" i="0" lang="en-US" sz="1050" u="none" cap="none" strike="noStrike">
                          <a:solidFill>
                            <a:srgbClr val="16A34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Best overall accuracy; top scores on DDoS (99.87%) and PortScan (99.96%)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k-Nearest Neighbors (k-NN)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8-Class Tabular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97.69%</a:t>
                      </a:r>
                      <a:r>
                        <a:rPr lang="en-US" sz="1050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/>
                      </a: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Highly accurate local decisions, but slow execution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5" name="Google Shape;385;p29"/>
          <p:cNvSpPr/>
          <p:nvPr/>
        </p:nvSpPr>
        <p:spPr>
          <a:xfrm>
            <a:off x="776287" y="3300412"/>
            <a:ext cx="2802582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9"/>
          <p:cNvSpPr/>
          <p:nvPr/>
        </p:nvSpPr>
        <p:spPr>
          <a:xfrm>
            <a:off x="3578869" y="3300412"/>
            <a:ext cx="1594693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9"/>
          <p:cNvSpPr/>
          <p:nvPr/>
        </p:nvSpPr>
        <p:spPr>
          <a:xfrm>
            <a:off x="5173563" y="3300412"/>
            <a:ext cx="1547068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9"/>
          <p:cNvSpPr/>
          <p:nvPr/>
        </p:nvSpPr>
        <p:spPr>
          <a:xfrm>
            <a:off x="6720631" y="3300412"/>
            <a:ext cx="469508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9"/>
          <p:cNvSpPr/>
          <p:nvPr/>
        </p:nvSpPr>
        <p:spPr>
          <a:xfrm>
            <a:off x="776287" y="3714750"/>
            <a:ext cx="28025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9"/>
          <p:cNvSpPr/>
          <p:nvPr/>
        </p:nvSpPr>
        <p:spPr>
          <a:xfrm>
            <a:off x="3578869" y="3714750"/>
            <a:ext cx="15946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9"/>
          <p:cNvSpPr/>
          <p:nvPr/>
        </p:nvSpPr>
        <p:spPr>
          <a:xfrm>
            <a:off x="5173563" y="3714750"/>
            <a:ext cx="15470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9"/>
          <p:cNvSpPr/>
          <p:nvPr/>
        </p:nvSpPr>
        <p:spPr>
          <a:xfrm>
            <a:off x="6720631" y="3714750"/>
            <a:ext cx="46950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9"/>
          <p:cNvSpPr/>
          <p:nvPr/>
        </p:nvSpPr>
        <p:spPr>
          <a:xfrm>
            <a:off x="776287" y="4114800"/>
            <a:ext cx="28025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9"/>
          <p:cNvSpPr/>
          <p:nvPr/>
        </p:nvSpPr>
        <p:spPr>
          <a:xfrm>
            <a:off x="3578869" y="4114800"/>
            <a:ext cx="15946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9"/>
          <p:cNvSpPr/>
          <p:nvPr/>
        </p:nvSpPr>
        <p:spPr>
          <a:xfrm>
            <a:off x="5173563" y="4114800"/>
            <a:ext cx="154706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9"/>
          <p:cNvSpPr/>
          <p:nvPr/>
        </p:nvSpPr>
        <p:spPr>
          <a:xfrm>
            <a:off x="6720631" y="4114800"/>
            <a:ext cx="469508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9"/>
          <p:cNvSpPr txBox="1"/>
          <p:nvPr/>
        </p:nvSpPr>
        <p:spPr>
          <a:xfrm>
            <a:off x="1114425" y="485775"/>
            <a:ext cx="108213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Classical Algorithm Metrics (8-Class)</a:t>
            </a:r>
            <a:endParaRPr/>
          </a:p>
        </p:txBody>
      </p:sp>
      <p:sp>
        <p:nvSpPr>
          <p:cNvPr id="398" name="Google Shape;398;p29"/>
          <p:cNvSpPr/>
          <p:nvPr/>
        </p:nvSpPr>
        <p:spPr>
          <a:xfrm>
            <a:off x="771525" y="1000125"/>
            <a:ext cx="10648950" cy="190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3" name="Google Shape;40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4" name="Google Shape;404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59055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30"/>
          <p:cNvSpPr txBox="1"/>
          <p:nvPr/>
        </p:nvSpPr>
        <p:spPr>
          <a:xfrm>
            <a:off x="771525" y="2745581"/>
            <a:ext cx="106489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Resource consumption of the parallel multi-class algorithms during local training and evaluation:</a:t>
            </a:r>
            <a:endParaRPr/>
          </a:p>
        </p:txBody>
      </p:sp>
      <p:graphicFrame>
        <p:nvGraphicFramePr>
          <p:cNvPr id="406" name="Google Shape;406;p30"/>
          <p:cNvGraphicFramePr/>
          <p:nvPr/>
        </p:nvGraphicFramePr>
        <p:xfrm>
          <a:off x="771525" y="30741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{2A9026A8-B2F2-45B2-8AF8-5DC6FBDDCD7D}</a:tableStyleId>
              </a:tblPr>
              <a:tblGrid>
                <a:gridCol w="3823550"/>
                <a:gridCol w="2414725"/>
                <a:gridCol w="2502250"/>
                <a:gridCol w="1898900"/>
              </a:tblGrid>
              <a:tr h="4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Model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Execution Time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RAM Consumed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CPU Usage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Random Forest (RF)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15.2s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4,059.66 MB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26.71%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XGBoost (Winner)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16A34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12.2s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563EB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1,355.11 MB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24.62%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k-Nearest Neighbors (k-NN)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DC262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51.8s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1,409.50 MB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563EB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9.02%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07" name="Google Shape;407;p30"/>
          <p:cNvSpPr/>
          <p:nvPr/>
        </p:nvSpPr>
        <p:spPr>
          <a:xfrm>
            <a:off x="776287" y="3464718"/>
            <a:ext cx="3823543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0"/>
          <p:cNvSpPr/>
          <p:nvPr/>
        </p:nvSpPr>
        <p:spPr>
          <a:xfrm>
            <a:off x="4599830" y="3464718"/>
            <a:ext cx="2414736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0"/>
          <p:cNvSpPr/>
          <p:nvPr/>
        </p:nvSpPr>
        <p:spPr>
          <a:xfrm>
            <a:off x="7014567" y="3464718"/>
            <a:ext cx="2502247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30"/>
          <p:cNvSpPr/>
          <p:nvPr/>
        </p:nvSpPr>
        <p:spPr>
          <a:xfrm>
            <a:off x="9516814" y="3464718"/>
            <a:ext cx="1898898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30"/>
          <p:cNvSpPr/>
          <p:nvPr/>
        </p:nvSpPr>
        <p:spPr>
          <a:xfrm>
            <a:off x="776287" y="3879056"/>
            <a:ext cx="382354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0"/>
          <p:cNvSpPr/>
          <p:nvPr/>
        </p:nvSpPr>
        <p:spPr>
          <a:xfrm>
            <a:off x="4599830" y="3879056"/>
            <a:ext cx="24147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0"/>
          <p:cNvSpPr/>
          <p:nvPr/>
        </p:nvSpPr>
        <p:spPr>
          <a:xfrm>
            <a:off x="7014567" y="3879056"/>
            <a:ext cx="25022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0"/>
          <p:cNvSpPr/>
          <p:nvPr/>
        </p:nvSpPr>
        <p:spPr>
          <a:xfrm>
            <a:off x="9516814" y="3879056"/>
            <a:ext cx="18988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0"/>
          <p:cNvSpPr/>
          <p:nvPr/>
        </p:nvSpPr>
        <p:spPr>
          <a:xfrm>
            <a:off x="776287" y="4279106"/>
            <a:ext cx="382354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30"/>
          <p:cNvSpPr/>
          <p:nvPr/>
        </p:nvSpPr>
        <p:spPr>
          <a:xfrm>
            <a:off x="4599830" y="4279106"/>
            <a:ext cx="24147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0"/>
          <p:cNvSpPr/>
          <p:nvPr/>
        </p:nvSpPr>
        <p:spPr>
          <a:xfrm>
            <a:off x="7014567" y="4279106"/>
            <a:ext cx="250224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0"/>
          <p:cNvSpPr/>
          <p:nvPr/>
        </p:nvSpPr>
        <p:spPr>
          <a:xfrm>
            <a:off x="9516814" y="4279106"/>
            <a:ext cx="18988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0"/>
          <p:cNvSpPr txBox="1"/>
          <p:nvPr/>
        </p:nvSpPr>
        <p:spPr>
          <a:xfrm>
            <a:off x="1114425" y="485775"/>
            <a:ext cx="108213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Computational Efficiency Analysis</a:t>
            </a:r>
            <a:endParaRPr/>
          </a:p>
        </p:txBody>
      </p:sp>
      <p:sp>
        <p:nvSpPr>
          <p:cNvPr id="420" name="Google Shape;420;p30"/>
          <p:cNvSpPr/>
          <p:nvPr/>
        </p:nvSpPr>
        <p:spPr>
          <a:xfrm>
            <a:off x="771525" y="1000125"/>
            <a:ext cx="10648950" cy="190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5" name="Google Shape;42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6" name="Google Shape;426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840533"/>
            <a:ext cx="5133975" cy="17579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7" name="Google Shape;427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590550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31"/>
          <p:cNvSpPr txBox="1"/>
          <p:nvPr/>
        </p:nvSpPr>
        <p:spPr>
          <a:xfrm>
            <a:off x="771525" y="2859583"/>
            <a:ext cx="539067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Superior Speed and Weight Optimization</a:t>
            </a:r>
            <a:endParaRPr/>
          </a:p>
        </p:txBody>
      </p:sp>
      <p:sp>
        <p:nvSpPr>
          <p:cNvPr id="429" name="Google Shape;429;p31"/>
          <p:cNvSpPr txBox="1"/>
          <p:nvPr/>
        </p:nvSpPr>
        <p:spPr>
          <a:xfrm>
            <a:off x="771525" y="3135808"/>
            <a:ext cx="513397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XGBoost achieves the best overall accuracy (97.99%) across all three models while using the least computational resources.</a:t>
            </a:r>
            <a:endParaRPr/>
          </a:p>
        </p:txBody>
      </p:sp>
      <p:sp>
        <p:nvSpPr>
          <p:cNvPr id="430" name="Google Shape;430;p31"/>
          <p:cNvSpPr txBox="1"/>
          <p:nvPr/>
        </p:nvSpPr>
        <p:spPr>
          <a:xfrm>
            <a:off x="6524625" y="3078658"/>
            <a:ext cx="489061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Verdict for Production Deployment</a:t>
            </a:r>
            <a:endParaRPr/>
          </a:p>
        </p:txBody>
      </p:sp>
      <p:sp>
        <p:nvSpPr>
          <p:cNvPr id="431" name="Google Shape;431;p31"/>
          <p:cNvSpPr txBox="1"/>
          <p:nvPr/>
        </p:nvSpPr>
        <p:spPr>
          <a:xfrm>
            <a:off x="6524625" y="3412033"/>
            <a:ext cx="465772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 high-throughput corporate environments, execution speed is as critical as accuracy.</a:t>
            </a:r>
            <a:endParaRPr/>
          </a:p>
        </p:txBody>
      </p:sp>
      <p:sp>
        <p:nvSpPr>
          <p:cNvPr id="432" name="Google Shape;432;p31"/>
          <p:cNvSpPr txBox="1"/>
          <p:nvPr/>
        </p:nvSpPr>
        <p:spPr>
          <a:xfrm>
            <a:off x="6524625" y="3933825"/>
            <a:ext cx="465772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XGBoost represents the optimal choice for classical multi-class deployment.</a:t>
            </a:r>
            <a:endParaRPr/>
          </a:p>
        </p:txBody>
      </p:sp>
      <p:sp>
        <p:nvSpPr>
          <p:cNvPr id="433" name="Google Shape;433;p31"/>
          <p:cNvSpPr txBox="1"/>
          <p:nvPr/>
        </p:nvSpPr>
        <p:spPr>
          <a:xfrm>
            <a:off x="1000125" y="3676650"/>
            <a:ext cx="4905375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1.25x faster execution time than Random Forest.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/>
          </a:p>
        </p:txBody>
      </p:sp>
      <p:sp>
        <p:nvSpPr>
          <p:cNvPr id="434" name="Google Shape;434;p31"/>
          <p:cNvSpPr txBox="1"/>
          <p:nvPr/>
        </p:nvSpPr>
        <p:spPr>
          <a:xfrm>
            <a:off x="1000125" y="3977580"/>
            <a:ext cx="4905375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Consumes only 1.3 GB of RAM, ensuring lightweight edge capability.</a:t>
            </a:r>
            <a:endParaRPr/>
          </a:p>
        </p:txBody>
      </p:sp>
      <p:sp>
        <p:nvSpPr>
          <p:cNvPr id="435" name="Google Shape;435;p31"/>
          <p:cNvSpPr txBox="1"/>
          <p:nvPr/>
        </p:nvSpPr>
        <p:spPr>
          <a:xfrm>
            <a:off x="1000125" y="4278510"/>
            <a:ext cx="4905375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Best overall accuracy (97.99%); top scores on DDoS (99.87%) and PortScan (99.96%).</a:t>
            </a:r>
            <a:endParaRPr/>
          </a:p>
        </p:txBody>
      </p:sp>
      <p:sp>
        <p:nvSpPr>
          <p:cNvPr id="436" name="Google Shape;436;p31"/>
          <p:cNvSpPr txBox="1"/>
          <p:nvPr/>
        </p:nvSpPr>
        <p:spPr>
          <a:xfrm>
            <a:off x="1143000" y="485775"/>
            <a:ext cx="107913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XGBoost: The Winning Classical Prototype</a:t>
            </a:r>
            <a:endParaRPr/>
          </a:p>
        </p:txBody>
      </p:sp>
      <p:sp>
        <p:nvSpPr>
          <p:cNvPr id="437" name="Google Shape;437;p31"/>
          <p:cNvSpPr/>
          <p:nvPr/>
        </p:nvSpPr>
        <p:spPr>
          <a:xfrm>
            <a:off x="771525" y="1000125"/>
            <a:ext cx="10648950" cy="190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38" name="Google Shape;438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3714750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9" name="Google Shape;439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4015680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0" name="Google Shape;440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4316610"/>
            <a:ext cx="104775" cy="12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45" name="Google Shape;44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6" name="Google Shape;446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1943100"/>
            <a:ext cx="3397150" cy="170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7" name="Google Shape;447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97275" y="1943100"/>
            <a:ext cx="3397299" cy="170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8" name="Google Shape;448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23175" y="1943100"/>
            <a:ext cx="3397150" cy="170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9" name="Google Shape;449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3790950"/>
            <a:ext cx="3397150" cy="170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0" name="Google Shape;450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97275" y="3790950"/>
            <a:ext cx="3397299" cy="170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1" name="Google Shape;451;p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23175" y="3790950"/>
            <a:ext cx="3397150" cy="1704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2" name="Google Shape;452;p3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09650" y="2181225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3" name="Google Shape;453;p3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35400" y="2181225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4" name="Google Shape;454;p3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261300" y="2181225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5" name="Google Shape;455;p3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09650" y="4029075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6" name="Google Shape;456;p3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635400" y="4029075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7" name="Google Shape;457;p3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261300" y="4029075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8" name="Google Shape;458;p3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71525" y="59055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32"/>
          <p:cNvSpPr txBox="1"/>
          <p:nvPr/>
        </p:nvSpPr>
        <p:spPr>
          <a:xfrm>
            <a:off x="1009650" y="2705100"/>
            <a:ext cx="306694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Normal Traffic</a:t>
            </a:r>
            <a:endParaRPr/>
          </a:p>
        </p:txBody>
      </p:sp>
      <p:sp>
        <p:nvSpPr>
          <p:cNvPr id="460" name="Google Shape;460;p32"/>
          <p:cNvSpPr txBox="1"/>
          <p:nvPr/>
        </p:nvSpPr>
        <p:spPr>
          <a:xfrm>
            <a:off x="1009650" y="3038475"/>
            <a:ext cx="29209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Baseline benign network sessions representing normal authorized operations.</a:t>
            </a:r>
            <a:endParaRPr/>
          </a:p>
        </p:txBody>
      </p:sp>
      <p:sp>
        <p:nvSpPr>
          <p:cNvPr id="461" name="Google Shape;461;p32"/>
          <p:cNvSpPr txBox="1"/>
          <p:nvPr/>
        </p:nvSpPr>
        <p:spPr>
          <a:xfrm>
            <a:off x="4635400" y="2705100"/>
            <a:ext cx="306710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Volumetric Attacks</a:t>
            </a:r>
            <a:endParaRPr/>
          </a:p>
        </p:txBody>
      </p:sp>
      <p:sp>
        <p:nvSpPr>
          <p:cNvPr id="462" name="Google Shape;462;p32"/>
          <p:cNvSpPr txBox="1"/>
          <p:nvPr/>
        </p:nvSpPr>
        <p:spPr>
          <a:xfrm>
            <a:off x="4635400" y="3038475"/>
            <a:ext cx="292104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DoS and DDoS flows mapped through high byte/packet rate features.</a:t>
            </a:r>
            <a:endParaRPr/>
          </a:p>
        </p:txBody>
      </p:sp>
      <p:sp>
        <p:nvSpPr>
          <p:cNvPr id="463" name="Google Shape;463;p32"/>
          <p:cNvSpPr txBox="1"/>
          <p:nvPr/>
        </p:nvSpPr>
        <p:spPr>
          <a:xfrm>
            <a:off x="8261300" y="2705100"/>
            <a:ext cx="306694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Administrative Abuse</a:t>
            </a:r>
            <a:endParaRPr/>
          </a:p>
        </p:txBody>
      </p:sp>
      <p:sp>
        <p:nvSpPr>
          <p:cNvPr id="464" name="Google Shape;464;p32"/>
          <p:cNvSpPr txBox="1"/>
          <p:nvPr/>
        </p:nvSpPr>
        <p:spPr>
          <a:xfrm>
            <a:off x="8261300" y="3038475"/>
            <a:ext cx="29209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SSH/FTP Brute Force credential probing containing uniform connection resets.</a:t>
            </a:r>
            <a:endParaRPr/>
          </a:p>
        </p:txBody>
      </p:sp>
      <p:sp>
        <p:nvSpPr>
          <p:cNvPr id="465" name="Google Shape;465;p32"/>
          <p:cNvSpPr txBox="1"/>
          <p:nvPr/>
        </p:nvSpPr>
        <p:spPr>
          <a:xfrm>
            <a:off x="1009650" y="4552950"/>
            <a:ext cx="306694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Web Applications</a:t>
            </a:r>
            <a:endParaRPr/>
          </a:p>
        </p:txBody>
      </p:sp>
      <p:sp>
        <p:nvSpPr>
          <p:cNvPr id="466" name="Google Shape;466;p32"/>
          <p:cNvSpPr txBox="1"/>
          <p:nvPr/>
        </p:nvSpPr>
        <p:spPr>
          <a:xfrm>
            <a:off x="1009650" y="4886325"/>
            <a:ext cx="29209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HTTP-based exploits, XSS, and SQL Injection targeting open web endpoints.</a:t>
            </a:r>
            <a:endParaRPr/>
          </a:p>
        </p:txBody>
      </p:sp>
      <p:sp>
        <p:nvSpPr>
          <p:cNvPr id="467" name="Google Shape;467;p32"/>
          <p:cNvSpPr txBox="1"/>
          <p:nvPr/>
        </p:nvSpPr>
        <p:spPr>
          <a:xfrm>
            <a:off x="4635400" y="4552950"/>
            <a:ext cx="306710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Stealth Campaigns</a:t>
            </a:r>
            <a:endParaRPr/>
          </a:p>
        </p:txBody>
      </p:sp>
      <p:sp>
        <p:nvSpPr>
          <p:cNvPr id="468" name="Google Shape;468;p32"/>
          <p:cNvSpPr txBox="1"/>
          <p:nvPr/>
        </p:nvSpPr>
        <p:spPr>
          <a:xfrm>
            <a:off x="4635400" y="4886325"/>
            <a:ext cx="292104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Infiltration and Botnet activity characterized by custom command-and-control beacon timers.</a:t>
            </a:r>
            <a:endParaRPr/>
          </a:p>
        </p:txBody>
      </p:sp>
      <p:sp>
        <p:nvSpPr>
          <p:cNvPr id="469" name="Google Shape;469;p32"/>
          <p:cNvSpPr txBox="1"/>
          <p:nvPr/>
        </p:nvSpPr>
        <p:spPr>
          <a:xfrm>
            <a:off x="8261300" y="4552950"/>
            <a:ext cx="306694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Exploits</a:t>
            </a:r>
            <a:endParaRPr/>
          </a:p>
        </p:txBody>
      </p:sp>
      <p:sp>
        <p:nvSpPr>
          <p:cNvPr id="470" name="Google Shape;470;p32"/>
          <p:cNvSpPr txBox="1"/>
          <p:nvPr/>
        </p:nvSpPr>
        <p:spPr>
          <a:xfrm>
            <a:off x="8261300" y="4886325"/>
            <a:ext cx="29209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Specialized buffer leaks such as Heartbleed utilizing abnormal asymmetric segment lengths.</a:t>
            </a:r>
            <a:endParaRPr/>
          </a:p>
        </p:txBody>
      </p:sp>
      <p:sp>
        <p:nvSpPr>
          <p:cNvPr id="471" name="Google Shape;471;p32"/>
          <p:cNvSpPr txBox="1"/>
          <p:nvPr/>
        </p:nvSpPr>
        <p:spPr>
          <a:xfrm>
            <a:off x="1114425" y="485775"/>
            <a:ext cx="108213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Multi-Class Decision Targets</a:t>
            </a:r>
            <a:endParaRPr/>
          </a:p>
        </p:txBody>
      </p:sp>
      <p:sp>
        <p:nvSpPr>
          <p:cNvPr id="472" name="Google Shape;472;p32"/>
          <p:cNvSpPr/>
          <p:nvPr/>
        </p:nvSpPr>
        <p:spPr>
          <a:xfrm>
            <a:off x="771525" y="1000125"/>
            <a:ext cx="10648950" cy="190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77" name="Google Shape;47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3"/>
          <p:cNvSpPr/>
          <p:nvPr/>
        </p:nvSpPr>
        <p:spPr>
          <a:xfrm>
            <a:off x="5619750" y="2626072"/>
            <a:ext cx="9525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33"/>
          <p:cNvSpPr txBox="1"/>
          <p:nvPr/>
        </p:nvSpPr>
        <p:spPr>
          <a:xfrm>
            <a:off x="2395537" y="2902297"/>
            <a:ext cx="74009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Section 4: Deep Learning Track</a:t>
            </a:r>
            <a:endParaRPr/>
          </a:p>
        </p:txBody>
      </p:sp>
      <p:sp>
        <p:nvSpPr>
          <p:cNvPr id="480" name="Google Shape;480;p33"/>
          <p:cNvSpPr txBox="1"/>
          <p:nvPr/>
        </p:nvSpPr>
        <p:spPr>
          <a:xfrm>
            <a:off x="2762250" y="3730972"/>
            <a:ext cx="66675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Designing, implementing, and validating the 5-dense layer neural network for high-throughput binary threat detection.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85" name="Google Shape;48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6" name="Google Shape;486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743348"/>
            <a:ext cx="5133975" cy="17579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7" name="Google Shape;487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743348"/>
            <a:ext cx="5133975" cy="19521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8" name="Google Shape;488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590550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34"/>
          <p:cNvSpPr txBox="1"/>
          <p:nvPr/>
        </p:nvSpPr>
        <p:spPr>
          <a:xfrm>
            <a:off x="1009650" y="2981473"/>
            <a:ext cx="489061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Flow Parsing &amp; Cleaning</a:t>
            </a:r>
            <a:endParaRPr/>
          </a:p>
        </p:txBody>
      </p:sp>
      <p:sp>
        <p:nvSpPr>
          <p:cNvPr id="490" name="Google Shape;490;p34"/>
          <p:cNvSpPr txBox="1"/>
          <p:nvPr/>
        </p:nvSpPr>
        <p:spPr>
          <a:xfrm>
            <a:off x="1009650" y="3314848"/>
            <a:ext cx="465772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Original traffic exports contain invalid values resulting from division-by-zero errors (e.g. packets/sec when flow duration equals zero).</a:t>
            </a:r>
            <a:endParaRPr/>
          </a:p>
        </p:txBody>
      </p:sp>
      <p:sp>
        <p:nvSpPr>
          <p:cNvPr id="491" name="Google Shape;491;p34"/>
          <p:cNvSpPr txBox="1"/>
          <p:nvPr/>
        </p:nvSpPr>
        <p:spPr>
          <a:xfrm>
            <a:off x="1009650" y="3836640"/>
            <a:ext cx="465772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All rows containing </a:t>
            </a: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NaN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or </a:t>
            </a: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Infinite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floating points were purged, retaining exactly 68 clean numerical columns.</a:t>
            </a:r>
            <a:endParaRPr/>
          </a:p>
        </p:txBody>
      </p:sp>
      <p:sp>
        <p:nvSpPr>
          <p:cNvPr id="492" name="Google Shape;492;p34"/>
          <p:cNvSpPr txBox="1"/>
          <p:nvPr/>
        </p:nvSpPr>
        <p:spPr>
          <a:xfrm>
            <a:off x="6524625" y="2981473"/>
            <a:ext cx="489061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Binary Output Design</a:t>
            </a:r>
            <a:endParaRPr/>
          </a:p>
        </p:txBody>
      </p:sp>
      <p:sp>
        <p:nvSpPr>
          <p:cNvPr id="493" name="Google Shape;493;p34"/>
          <p:cNvSpPr txBox="1"/>
          <p:nvPr/>
        </p:nvSpPr>
        <p:spPr>
          <a:xfrm>
            <a:off x="6524625" y="3314848"/>
            <a:ext cx="465772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We folded all attack categories into a single unified binary classification target:</a:t>
            </a:r>
            <a:endParaRPr/>
          </a:p>
        </p:txBody>
      </p:sp>
      <p:sp>
        <p:nvSpPr>
          <p:cNvPr id="494" name="Google Shape;494;p34"/>
          <p:cNvSpPr txBox="1"/>
          <p:nvPr/>
        </p:nvSpPr>
        <p:spPr>
          <a:xfrm>
            <a:off x="6524625" y="3817590"/>
            <a:ext cx="46577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 Class 0 (BENIGN):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Legitimate daily transactions.</a:t>
            </a:r>
            <a:endParaRPr/>
          </a:p>
        </p:txBody>
      </p:sp>
      <p:sp>
        <p:nvSpPr>
          <p:cNvPr id="495" name="Google Shape;495;p34"/>
          <p:cNvSpPr txBox="1"/>
          <p:nvPr/>
        </p:nvSpPr>
        <p:spPr>
          <a:xfrm>
            <a:off x="6524625" y="4030860"/>
            <a:ext cx="465772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 Class 1 (ATTACK):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Synthesizes DoS, DDoS, Brute Force, Infiltration, Botnet, Heartbleed, and Web Threats.</a:t>
            </a:r>
            <a:endParaRPr/>
          </a:p>
        </p:txBody>
      </p:sp>
      <p:pic>
        <p:nvPicPr>
          <p:cNvPr descr="image.png" id="496" name="Google Shape;496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9650" y="3029098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7" name="Google Shape;497;p3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24625" y="3029098"/>
            <a:ext cx="1524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34"/>
          <p:cNvSpPr txBox="1"/>
          <p:nvPr/>
        </p:nvSpPr>
        <p:spPr>
          <a:xfrm>
            <a:off x="1143000" y="485775"/>
            <a:ext cx="107913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DL Pipeline: Cleaning &amp; Binary Labeling</a:t>
            </a:r>
            <a:endParaRPr/>
          </a:p>
        </p:txBody>
      </p:sp>
      <p:sp>
        <p:nvSpPr>
          <p:cNvPr id="499" name="Google Shape;499;p34"/>
          <p:cNvSpPr/>
          <p:nvPr/>
        </p:nvSpPr>
        <p:spPr>
          <a:xfrm>
            <a:off x="771525" y="1000125"/>
            <a:ext cx="10648950" cy="190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04" name="Google Shape;50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5" name="Google Shape;505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667000"/>
            <a:ext cx="3422600" cy="2105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6" name="Google Shape;506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4625" y="2667000"/>
            <a:ext cx="3422600" cy="2105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7" name="Google Shape;507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97725" y="2667000"/>
            <a:ext cx="3422749" cy="2105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8" name="Google Shape;508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590550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35"/>
          <p:cNvSpPr txBox="1"/>
          <p:nvPr/>
        </p:nvSpPr>
        <p:spPr>
          <a:xfrm>
            <a:off x="1009650" y="3343275"/>
            <a:ext cx="309366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Input Layer</a:t>
            </a:r>
            <a:endParaRPr/>
          </a:p>
        </p:txBody>
      </p:sp>
      <p:sp>
        <p:nvSpPr>
          <p:cNvPr id="510" name="Google Shape;510;p35"/>
          <p:cNvSpPr txBox="1"/>
          <p:nvPr/>
        </p:nvSpPr>
        <p:spPr>
          <a:xfrm>
            <a:off x="1009650" y="3676650"/>
            <a:ext cx="29463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68 neurons representing standard preprocessed flow attributes. Features are scaled using standard normalization parameters.</a:t>
            </a:r>
            <a:endParaRPr/>
          </a:p>
        </p:txBody>
      </p:sp>
      <p:sp>
        <p:nvSpPr>
          <p:cNvPr id="511" name="Google Shape;511;p35"/>
          <p:cNvSpPr txBox="1"/>
          <p:nvPr/>
        </p:nvSpPr>
        <p:spPr>
          <a:xfrm>
            <a:off x="4622750" y="3343275"/>
            <a:ext cx="309366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5 Dense Layers</a:t>
            </a:r>
            <a:endParaRPr/>
          </a:p>
        </p:txBody>
      </p:sp>
      <p:sp>
        <p:nvSpPr>
          <p:cNvPr id="512" name="Google Shape;512;p35"/>
          <p:cNvSpPr txBox="1"/>
          <p:nvPr/>
        </p:nvSpPr>
        <p:spPr>
          <a:xfrm>
            <a:off x="4622750" y="3676650"/>
            <a:ext cx="294635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Hidden node distribution: 256, 128, 64, and 32 neurons. Uses ReLU activations for nonlinear pattern extraction.</a:t>
            </a:r>
            <a:endParaRPr/>
          </a:p>
        </p:txBody>
      </p:sp>
      <p:sp>
        <p:nvSpPr>
          <p:cNvPr id="513" name="Google Shape;513;p35"/>
          <p:cNvSpPr txBox="1"/>
          <p:nvPr/>
        </p:nvSpPr>
        <p:spPr>
          <a:xfrm>
            <a:off x="8235850" y="3343275"/>
            <a:ext cx="3093824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Sigmoid Output</a:t>
            </a:r>
            <a:endParaRPr/>
          </a:p>
        </p:txBody>
      </p:sp>
      <p:sp>
        <p:nvSpPr>
          <p:cNvPr id="514" name="Google Shape;514;p35"/>
          <p:cNvSpPr txBox="1"/>
          <p:nvPr/>
        </p:nvSpPr>
        <p:spPr>
          <a:xfrm>
            <a:off x="8235850" y="3676650"/>
            <a:ext cx="2946499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single sigmoid neuron outputting a binary probability score between 0 and 1, mapping to BENIGN or ATTACK.</a:t>
            </a:r>
            <a:endParaRPr/>
          </a:p>
        </p:txBody>
      </p:sp>
      <p:pic>
        <p:nvPicPr>
          <p:cNvPr descr="image.png" id="515" name="Google Shape;515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9650" y="2933700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6" name="Google Shape;516;p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22750" y="2933700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7" name="Google Shape;517;p3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35850" y="293370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35"/>
          <p:cNvSpPr txBox="1"/>
          <p:nvPr/>
        </p:nvSpPr>
        <p:spPr>
          <a:xfrm>
            <a:off x="1143000" y="485775"/>
            <a:ext cx="107913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Deployed ANN Architecture</a:t>
            </a:r>
            <a:endParaRPr/>
          </a:p>
        </p:txBody>
      </p:sp>
      <p:sp>
        <p:nvSpPr>
          <p:cNvPr id="519" name="Google Shape;519;p35"/>
          <p:cNvSpPr/>
          <p:nvPr/>
        </p:nvSpPr>
        <p:spPr>
          <a:xfrm>
            <a:off x="771525" y="1000125"/>
            <a:ext cx="10648950" cy="190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24" name="Google Shape;52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5" name="Google Shape;525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590550"/>
            <a:ext cx="257175" cy="228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26" name="Google Shape;526;p36"/>
          <p:cNvGraphicFramePr/>
          <p:nvPr/>
        </p:nvGraphicFramePr>
        <p:xfrm>
          <a:off x="771525" y="23098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{2A9026A8-B2F2-45B2-8AF8-5DC6FBDDCD7D}</a:tableStyleId>
              </a:tblPr>
              <a:tblGrid>
                <a:gridCol w="1435300"/>
                <a:gridCol w="3772950"/>
                <a:gridCol w="1195100"/>
                <a:gridCol w="4236100"/>
              </a:tblGrid>
              <a:tr h="402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Layer Name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Type / Architecture Specifications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Activation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Regularization Details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02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Input Block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68 Neurons (numerical flow vector)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Linear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Z-score standard normalization (StandardScaler)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2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Dense 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256 Neurons (fully connected)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ReLU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Batch Normalization + Dropout (rate = 0.3)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2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Dense 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128 Neurons (fully connected)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ReLU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Batch Normalization + Dropout (rate = 0.3)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2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Dense 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64 Neurons (fully connected)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ReLU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Batch Normalization + Dropout (rate = 0.2)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2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Dense 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32 Neurons (fully connected)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ReLU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Dropout (rate = 0.2)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2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Output Block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 Sigmoid Neuron (binary decision mapping)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Sigmoid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Final classification threshold locked at 0.5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27" name="Google Shape;527;p36"/>
          <p:cNvSpPr/>
          <p:nvPr/>
        </p:nvSpPr>
        <p:spPr>
          <a:xfrm>
            <a:off x="776287" y="2700337"/>
            <a:ext cx="1435298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36"/>
          <p:cNvSpPr/>
          <p:nvPr/>
        </p:nvSpPr>
        <p:spPr>
          <a:xfrm>
            <a:off x="2211585" y="2700337"/>
            <a:ext cx="3772941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36"/>
          <p:cNvSpPr/>
          <p:nvPr/>
        </p:nvSpPr>
        <p:spPr>
          <a:xfrm>
            <a:off x="5984527" y="2700337"/>
            <a:ext cx="1195089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36"/>
          <p:cNvSpPr/>
          <p:nvPr/>
        </p:nvSpPr>
        <p:spPr>
          <a:xfrm>
            <a:off x="7179617" y="2700337"/>
            <a:ext cx="4236094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36"/>
          <p:cNvSpPr/>
          <p:nvPr/>
        </p:nvSpPr>
        <p:spPr>
          <a:xfrm>
            <a:off x="776287" y="3114675"/>
            <a:ext cx="14352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36"/>
          <p:cNvSpPr/>
          <p:nvPr/>
        </p:nvSpPr>
        <p:spPr>
          <a:xfrm>
            <a:off x="2211585" y="3114675"/>
            <a:ext cx="37729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36"/>
          <p:cNvSpPr/>
          <p:nvPr/>
        </p:nvSpPr>
        <p:spPr>
          <a:xfrm>
            <a:off x="5984527" y="3114675"/>
            <a:ext cx="11950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36"/>
          <p:cNvSpPr/>
          <p:nvPr/>
        </p:nvSpPr>
        <p:spPr>
          <a:xfrm>
            <a:off x="7179617" y="3114675"/>
            <a:ext cx="42360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36"/>
          <p:cNvSpPr/>
          <p:nvPr/>
        </p:nvSpPr>
        <p:spPr>
          <a:xfrm>
            <a:off x="776287" y="3514725"/>
            <a:ext cx="14352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36"/>
          <p:cNvSpPr/>
          <p:nvPr/>
        </p:nvSpPr>
        <p:spPr>
          <a:xfrm>
            <a:off x="2211585" y="3514725"/>
            <a:ext cx="37729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36"/>
          <p:cNvSpPr/>
          <p:nvPr/>
        </p:nvSpPr>
        <p:spPr>
          <a:xfrm>
            <a:off x="5984527" y="3514725"/>
            <a:ext cx="11950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36"/>
          <p:cNvSpPr/>
          <p:nvPr/>
        </p:nvSpPr>
        <p:spPr>
          <a:xfrm>
            <a:off x="7179617" y="3514725"/>
            <a:ext cx="42360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36"/>
          <p:cNvSpPr/>
          <p:nvPr/>
        </p:nvSpPr>
        <p:spPr>
          <a:xfrm>
            <a:off x="776287" y="3914775"/>
            <a:ext cx="14352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36"/>
          <p:cNvSpPr/>
          <p:nvPr/>
        </p:nvSpPr>
        <p:spPr>
          <a:xfrm>
            <a:off x="2211585" y="3914775"/>
            <a:ext cx="37729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36"/>
          <p:cNvSpPr/>
          <p:nvPr/>
        </p:nvSpPr>
        <p:spPr>
          <a:xfrm>
            <a:off x="5984527" y="3914775"/>
            <a:ext cx="11950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36"/>
          <p:cNvSpPr/>
          <p:nvPr/>
        </p:nvSpPr>
        <p:spPr>
          <a:xfrm>
            <a:off x="7179617" y="3914775"/>
            <a:ext cx="42360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36"/>
          <p:cNvSpPr/>
          <p:nvPr/>
        </p:nvSpPr>
        <p:spPr>
          <a:xfrm>
            <a:off x="776287" y="4314825"/>
            <a:ext cx="14352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36"/>
          <p:cNvSpPr/>
          <p:nvPr/>
        </p:nvSpPr>
        <p:spPr>
          <a:xfrm>
            <a:off x="2211585" y="4314825"/>
            <a:ext cx="37729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36"/>
          <p:cNvSpPr/>
          <p:nvPr/>
        </p:nvSpPr>
        <p:spPr>
          <a:xfrm>
            <a:off x="5984527" y="4314825"/>
            <a:ext cx="11950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36"/>
          <p:cNvSpPr/>
          <p:nvPr/>
        </p:nvSpPr>
        <p:spPr>
          <a:xfrm>
            <a:off x="7179617" y="4314825"/>
            <a:ext cx="42360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36"/>
          <p:cNvSpPr/>
          <p:nvPr/>
        </p:nvSpPr>
        <p:spPr>
          <a:xfrm>
            <a:off x="776287" y="4714875"/>
            <a:ext cx="14352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36"/>
          <p:cNvSpPr/>
          <p:nvPr/>
        </p:nvSpPr>
        <p:spPr>
          <a:xfrm>
            <a:off x="2211585" y="4714875"/>
            <a:ext cx="37729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36"/>
          <p:cNvSpPr/>
          <p:nvPr/>
        </p:nvSpPr>
        <p:spPr>
          <a:xfrm>
            <a:off x="5984527" y="4714875"/>
            <a:ext cx="11950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36"/>
          <p:cNvSpPr/>
          <p:nvPr/>
        </p:nvSpPr>
        <p:spPr>
          <a:xfrm>
            <a:off x="7179617" y="4714875"/>
            <a:ext cx="42360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36"/>
          <p:cNvSpPr txBox="1"/>
          <p:nvPr/>
        </p:nvSpPr>
        <p:spPr>
          <a:xfrm>
            <a:off x="1143000" y="485775"/>
            <a:ext cx="107913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ANN Dense Network Specifications</a:t>
            </a:r>
            <a:endParaRPr/>
          </a:p>
        </p:txBody>
      </p:sp>
      <p:sp>
        <p:nvSpPr>
          <p:cNvPr id="552" name="Google Shape;552;p36"/>
          <p:cNvSpPr/>
          <p:nvPr/>
        </p:nvSpPr>
        <p:spPr>
          <a:xfrm>
            <a:off x="771525" y="1000125"/>
            <a:ext cx="10648950" cy="190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57" name="Google Shape;55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8" name="Google Shape;558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840533"/>
            <a:ext cx="5133975" cy="17579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9" name="Google Shape;559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2590800"/>
            <a:ext cx="5133975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0" name="Google Shape;560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3790950"/>
            <a:ext cx="5133975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1" name="Google Shape;561;p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590550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37"/>
          <p:cNvSpPr txBox="1"/>
          <p:nvPr/>
        </p:nvSpPr>
        <p:spPr>
          <a:xfrm>
            <a:off x="6524625" y="3078658"/>
            <a:ext cx="489061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Baseline ANN &amp; ROC-AUC Performance</a:t>
            </a:r>
            <a:endParaRPr/>
          </a:p>
        </p:txBody>
      </p:sp>
      <p:sp>
        <p:nvSpPr>
          <p:cNvPr id="563" name="Google Shape;563;p37"/>
          <p:cNvSpPr txBox="1"/>
          <p:nvPr/>
        </p:nvSpPr>
        <p:spPr>
          <a:xfrm>
            <a:off x="6524625" y="3412033"/>
            <a:ext cx="465772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 Baseline ANN model: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Achieved 96.45% accuracy on the test set, demonstrating robust binary detection performance.</a:t>
            </a:r>
            <a:endParaRPr/>
          </a:p>
        </p:txBody>
      </p:sp>
      <p:sp>
        <p:nvSpPr>
          <p:cNvPr id="564" name="Google Shape;564;p37"/>
          <p:cNvSpPr txBox="1"/>
          <p:nvPr/>
        </p:nvSpPr>
        <p:spPr>
          <a:xfrm>
            <a:off x="6524625" y="3933825"/>
            <a:ext cx="465772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 ROC-AUC: 0.9949 (99.49%) — model ranks a random attack above a random benign flow 99.49% of the time, demonstrating near-perfect discrimination.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/>
          </a:p>
        </p:txBody>
      </p:sp>
      <p:sp>
        <p:nvSpPr>
          <p:cNvPr id="565" name="Google Shape;565;p37"/>
          <p:cNvSpPr txBox="1"/>
          <p:nvPr/>
        </p:nvSpPr>
        <p:spPr>
          <a:xfrm>
            <a:off x="971550" y="2790825"/>
            <a:ext cx="473392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96.45%</a:t>
            </a:r>
            <a:endParaRPr/>
          </a:p>
        </p:txBody>
      </p:sp>
      <p:sp>
        <p:nvSpPr>
          <p:cNvPr id="566" name="Google Shape;566;p37"/>
          <p:cNvSpPr txBox="1"/>
          <p:nvPr/>
        </p:nvSpPr>
        <p:spPr>
          <a:xfrm>
            <a:off x="971550" y="3286125"/>
            <a:ext cx="47339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Baseline ANN Test Accuracy</a:t>
            </a:r>
            <a:endParaRPr/>
          </a:p>
        </p:txBody>
      </p:sp>
      <p:sp>
        <p:nvSpPr>
          <p:cNvPr id="567" name="Google Shape;567;p37"/>
          <p:cNvSpPr txBox="1"/>
          <p:nvPr/>
        </p:nvSpPr>
        <p:spPr>
          <a:xfrm>
            <a:off x="971550" y="3990975"/>
            <a:ext cx="473392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DC2626"/>
                </a:solidFill>
                <a:latin typeface="Poppins"/>
                <a:ea typeface="Poppins"/>
                <a:cs typeface="Poppins"/>
                <a:sym typeface="Poppins"/>
              </a:rPr>
              <a:t>99.49%</a:t>
            </a:r>
            <a:endParaRPr/>
          </a:p>
        </p:txBody>
      </p:sp>
      <p:sp>
        <p:nvSpPr>
          <p:cNvPr id="568" name="Google Shape;568;p37"/>
          <p:cNvSpPr txBox="1"/>
          <p:nvPr/>
        </p:nvSpPr>
        <p:spPr>
          <a:xfrm>
            <a:off x="971550" y="4486275"/>
            <a:ext cx="47339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ROC-AUC Score</a:t>
            </a:r>
            <a:endParaRPr/>
          </a:p>
        </p:txBody>
      </p:sp>
      <p:sp>
        <p:nvSpPr>
          <p:cNvPr id="569" name="Google Shape;569;p37"/>
          <p:cNvSpPr txBox="1"/>
          <p:nvPr/>
        </p:nvSpPr>
        <p:spPr>
          <a:xfrm>
            <a:off x="1143000" y="485775"/>
            <a:ext cx="107913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Deep Learning Performance Results</a:t>
            </a:r>
            <a:endParaRPr/>
          </a:p>
        </p:txBody>
      </p:sp>
      <p:sp>
        <p:nvSpPr>
          <p:cNvPr id="570" name="Google Shape;570;p37"/>
          <p:cNvSpPr/>
          <p:nvPr/>
        </p:nvSpPr>
        <p:spPr>
          <a:xfrm>
            <a:off x="771525" y="1000125"/>
            <a:ext cx="10648950" cy="190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75" name="Google Shape;57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76" name="Google Shape;576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590550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38"/>
          <p:cNvSpPr txBox="1"/>
          <p:nvPr/>
        </p:nvSpPr>
        <p:spPr>
          <a:xfrm>
            <a:off x="679350" y="3703531"/>
            <a:ext cx="106491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Evaluating the deployed baseline ANN performance over 254,510 test records at a threshold of 0.5:</a:t>
            </a:r>
            <a:endParaRPr/>
          </a:p>
        </p:txBody>
      </p:sp>
      <p:graphicFrame>
        <p:nvGraphicFramePr>
          <p:cNvPr id="578" name="Google Shape;578;p38"/>
          <p:cNvGraphicFramePr/>
          <p:nvPr/>
        </p:nvGraphicFramePr>
        <p:xfrm>
          <a:off x="679350" y="3611880"/>
          <a:ext cx="3000000" cy="3017520"/>
        </p:xfrm>
        <a:graphic>
          <a:graphicData uri="http://schemas.openxmlformats.org/drawingml/2006/table">
            <a:tbl>
              <a:tblPr bandRow="1" firstRow="1">
                <a:noFill/>
                <a:tableStyleId>{2A9026A8-B2F2-45B2-8AF8-5DC6FBDDCD7D}</a:tableStyleId>
              </a:tblPr>
              <a:tblGrid>
                <a:gridCol w="2161275"/>
                <a:gridCol w="2472325"/>
                <a:gridCol w="2504325"/>
                <a:gridCol w="3501475"/>
              </a:tblGrid>
              <a:tr h="406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Class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Predicted BENIGN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Predicted ATTACK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Class Performance Metrics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Actual BENIGN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16A34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198,219 (TN)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DC262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6,200 (FP)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FP Rate: 3.03%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Actual ATTACK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DC262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2,826 (FN)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16A34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47,265 (TP)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FN Rate (Miss Rate): 5.64%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79" name="Google Shape;579;p38"/>
          <p:cNvSpPr/>
          <p:nvPr/>
        </p:nvSpPr>
        <p:spPr>
          <a:xfrm>
            <a:off x="776287" y="4079081"/>
            <a:ext cx="21612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38"/>
          <p:cNvSpPr/>
          <p:nvPr/>
        </p:nvSpPr>
        <p:spPr>
          <a:xfrm>
            <a:off x="2937569" y="4079081"/>
            <a:ext cx="24723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38"/>
          <p:cNvSpPr/>
          <p:nvPr/>
        </p:nvSpPr>
        <p:spPr>
          <a:xfrm>
            <a:off x="5409902" y="4079081"/>
            <a:ext cx="250433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38"/>
          <p:cNvSpPr/>
          <p:nvPr/>
        </p:nvSpPr>
        <p:spPr>
          <a:xfrm>
            <a:off x="7914233" y="4079081"/>
            <a:ext cx="350147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38"/>
          <p:cNvSpPr txBox="1"/>
          <p:nvPr/>
        </p:nvSpPr>
        <p:spPr>
          <a:xfrm>
            <a:off x="1085850" y="485775"/>
            <a:ext cx="108513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ANN Confusion Matrix</a:t>
            </a:r>
            <a:endParaRPr/>
          </a:p>
        </p:txBody>
      </p:sp>
      <p:sp>
        <p:nvSpPr>
          <p:cNvPr id="584" name="Google Shape;584;p38"/>
          <p:cNvSpPr/>
          <p:nvPr/>
        </p:nvSpPr>
        <p:spPr>
          <a:xfrm>
            <a:off x="771525" y="1000125"/>
            <a:ext cx="10648950" cy="190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5" name="Google Shape;585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95844" y="1019169"/>
            <a:ext cx="3724624" cy="278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90" name="Google Shape;59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91" name="Google Shape;591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905125"/>
            <a:ext cx="5133975" cy="1628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92" name="Google Shape;592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905125"/>
            <a:ext cx="5133975" cy="1628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93" name="Google Shape;593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59055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39"/>
          <p:cNvSpPr txBox="1"/>
          <p:nvPr/>
        </p:nvSpPr>
        <p:spPr>
          <a:xfrm>
            <a:off x="1009650" y="3143250"/>
            <a:ext cx="489061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6,200 False Positives (3.03%)</a:t>
            </a:r>
            <a:endParaRPr/>
          </a:p>
        </p:txBody>
      </p:sp>
      <p:sp>
        <p:nvSpPr>
          <p:cNvPr id="595" name="Google Shape;595;p39"/>
          <p:cNvSpPr txBox="1"/>
          <p:nvPr/>
        </p:nvSpPr>
        <p:spPr>
          <a:xfrm>
            <a:off x="1009650" y="3476625"/>
            <a:ext cx="46577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Cause: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High-volume legitimate traffic (file transfers, cloud backups) shares statistical packet/timing signatures with DoS flows.</a:t>
            </a:r>
            <a:endParaRPr/>
          </a:p>
        </p:txBody>
      </p:sp>
      <p:sp>
        <p:nvSpPr>
          <p:cNvPr id="596" name="Google Shape;596;p39"/>
          <p:cNvSpPr txBox="1"/>
          <p:nvPr/>
        </p:nvSpPr>
        <p:spPr>
          <a:xfrm>
            <a:off x="1009650" y="3924300"/>
            <a:ext cx="46577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Impact: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Contributes to SOC alert fatigue, requiring optimized routing filters to reduce false alerts.</a:t>
            </a:r>
            <a:endParaRPr/>
          </a:p>
        </p:txBody>
      </p:sp>
      <p:sp>
        <p:nvSpPr>
          <p:cNvPr id="597" name="Google Shape;597;p39"/>
          <p:cNvSpPr txBox="1"/>
          <p:nvPr/>
        </p:nvSpPr>
        <p:spPr>
          <a:xfrm>
            <a:off x="6524625" y="3143250"/>
            <a:ext cx="489061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2,826 False Negatives (5.64%)</a:t>
            </a:r>
            <a:endParaRPr/>
          </a:p>
        </p:txBody>
      </p:sp>
      <p:sp>
        <p:nvSpPr>
          <p:cNvPr id="598" name="Google Shape;598;p39"/>
          <p:cNvSpPr txBox="1"/>
          <p:nvPr/>
        </p:nvSpPr>
        <p:spPr>
          <a:xfrm>
            <a:off x="6524625" y="3476625"/>
            <a:ext cx="46577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Cause: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Low-signature, highly stealthy attacks (e.g. slow brute force, infiltration) resembling standard user actions.</a:t>
            </a:r>
            <a:endParaRPr/>
          </a:p>
        </p:txBody>
      </p:sp>
      <p:sp>
        <p:nvSpPr>
          <p:cNvPr id="599" name="Google Shape;599;p39"/>
          <p:cNvSpPr txBox="1"/>
          <p:nvPr/>
        </p:nvSpPr>
        <p:spPr>
          <a:xfrm>
            <a:off x="6524625" y="3924300"/>
            <a:ext cx="46577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Impact: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Represents critical perimeters missed, highlighting the need for secondary host-based defenses.</a:t>
            </a:r>
            <a:endParaRPr/>
          </a:p>
        </p:txBody>
      </p:sp>
      <p:sp>
        <p:nvSpPr>
          <p:cNvPr id="600" name="Google Shape;600;p39"/>
          <p:cNvSpPr txBox="1"/>
          <p:nvPr/>
        </p:nvSpPr>
        <p:spPr>
          <a:xfrm>
            <a:off x="1114425" y="485775"/>
            <a:ext cx="108213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False Positive &amp; False Negative Analysis</a:t>
            </a:r>
            <a:endParaRPr/>
          </a:p>
        </p:txBody>
      </p:sp>
      <p:sp>
        <p:nvSpPr>
          <p:cNvPr id="601" name="Google Shape;601;p39"/>
          <p:cNvSpPr/>
          <p:nvPr/>
        </p:nvSpPr>
        <p:spPr>
          <a:xfrm>
            <a:off x="771525" y="1000125"/>
            <a:ext cx="10648950" cy="190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06" name="Google Shape;6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0"/>
          <p:cNvSpPr/>
          <p:nvPr/>
        </p:nvSpPr>
        <p:spPr>
          <a:xfrm>
            <a:off x="5619750" y="2626072"/>
            <a:ext cx="9525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40"/>
          <p:cNvSpPr txBox="1"/>
          <p:nvPr/>
        </p:nvSpPr>
        <p:spPr>
          <a:xfrm>
            <a:off x="667821" y="2902297"/>
            <a:ext cx="1085635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Section 5: Literature Review &amp; Benchmarking</a:t>
            </a:r>
            <a:endParaRPr/>
          </a:p>
        </p:txBody>
      </p:sp>
      <p:sp>
        <p:nvSpPr>
          <p:cNvPr id="609" name="Google Shape;609;p40"/>
          <p:cNvSpPr txBox="1"/>
          <p:nvPr/>
        </p:nvSpPr>
        <p:spPr>
          <a:xfrm>
            <a:off x="2762250" y="3730972"/>
            <a:ext cx="66675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Evaluating our system's direction against the foundational literature that shaped state-of-the-art flow classification.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14" name="Google Shape;614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15" name="Google Shape;615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638425"/>
            <a:ext cx="5133975" cy="2162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16" name="Google Shape;616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638425"/>
            <a:ext cx="5133975" cy="1962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17" name="Google Shape;617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590550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41"/>
          <p:cNvSpPr txBox="1"/>
          <p:nvPr/>
        </p:nvSpPr>
        <p:spPr>
          <a:xfrm>
            <a:off x="1009650" y="2876550"/>
            <a:ext cx="489061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Jairu [1] (2021 SCSU Thesis)</a:t>
            </a:r>
            <a:endParaRPr/>
          </a:p>
        </p:txBody>
      </p:sp>
      <p:sp>
        <p:nvSpPr>
          <p:cNvPr id="619" name="Google Shape;619;p41"/>
          <p:cNvSpPr txBox="1"/>
          <p:nvPr/>
        </p:nvSpPr>
        <p:spPr>
          <a:xfrm>
            <a:off x="1009650" y="3209925"/>
            <a:ext cx="46577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Evaluated classical ML models (RF, SVM, KNN, Naive Bayes) on the CICIDS2017 dataset.</a:t>
            </a:r>
            <a:endParaRPr/>
          </a:p>
        </p:txBody>
      </p:sp>
      <p:sp>
        <p:nvSpPr>
          <p:cNvPr id="620" name="Google Shape;620;p41"/>
          <p:cNvSpPr txBox="1"/>
          <p:nvPr/>
        </p:nvSpPr>
        <p:spPr>
          <a:xfrm>
            <a:off x="1009650" y="3686175"/>
            <a:ext cx="46577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Key Result: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Random Forest achieved </a:t>
            </a: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99.93% accuracy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using a subset of 14 selected features.</a:t>
            </a:r>
            <a:endParaRPr/>
          </a:p>
        </p:txBody>
      </p:sp>
      <p:sp>
        <p:nvSpPr>
          <p:cNvPr id="621" name="Google Shape;621;p41"/>
          <p:cNvSpPr txBox="1"/>
          <p:nvPr/>
        </p:nvSpPr>
        <p:spPr>
          <a:xfrm>
            <a:off x="1009650" y="4162425"/>
            <a:ext cx="46577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Highly accurate but lacked a runtime deployment dashboard for continuous flow validation.</a:t>
            </a:r>
            <a:endParaRPr/>
          </a:p>
        </p:txBody>
      </p:sp>
      <p:sp>
        <p:nvSpPr>
          <p:cNvPr id="622" name="Google Shape;622;p41"/>
          <p:cNvSpPr txBox="1"/>
          <p:nvPr/>
        </p:nvSpPr>
        <p:spPr>
          <a:xfrm>
            <a:off x="6524625" y="2876550"/>
            <a:ext cx="489061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Zhang et al. [14] (2021)</a:t>
            </a:r>
            <a:endParaRPr/>
          </a:p>
        </p:txBody>
      </p:sp>
      <p:sp>
        <p:nvSpPr>
          <p:cNvPr id="623" name="Google Shape;623;p41"/>
          <p:cNvSpPr txBox="1"/>
          <p:nvPr/>
        </p:nvSpPr>
        <p:spPr>
          <a:xfrm>
            <a:off x="6524625" y="3209925"/>
            <a:ext cx="46577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Developed a hybrid approach using a Stacked Autoencoder (SAE) for feature reduction, followed by Random Forest classification.</a:t>
            </a:r>
            <a:endParaRPr/>
          </a:p>
        </p:txBody>
      </p:sp>
      <p:sp>
        <p:nvSpPr>
          <p:cNvPr id="624" name="Google Shape;624;p41"/>
          <p:cNvSpPr txBox="1"/>
          <p:nvPr/>
        </p:nvSpPr>
        <p:spPr>
          <a:xfrm>
            <a:off x="6524625" y="3686175"/>
            <a:ext cx="46577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Key Result: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Achieved </a:t>
            </a: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99.92% accuracy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on multi-class typing.</a:t>
            </a:r>
            <a:endParaRPr/>
          </a:p>
        </p:txBody>
      </p:sp>
      <p:sp>
        <p:nvSpPr>
          <p:cNvPr id="625" name="Google Shape;625;p41"/>
          <p:cNvSpPr txBox="1"/>
          <p:nvPr/>
        </p:nvSpPr>
        <p:spPr>
          <a:xfrm>
            <a:off x="6524625" y="3962400"/>
            <a:ext cx="46577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Proven feature compression concept that guided our 16-feature dimensionality selection.</a:t>
            </a:r>
            <a:endParaRPr/>
          </a:p>
        </p:txBody>
      </p:sp>
      <p:sp>
        <p:nvSpPr>
          <p:cNvPr id="626" name="Google Shape;626;p41"/>
          <p:cNvSpPr txBox="1"/>
          <p:nvPr/>
        </p:nvSpPr>
        <p:spPr>
          <a:xfrm>
            <a:off x="1085850" y="485775"/>
            <a:ext cx="108513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Literature Focus: Classical ML Track</a:t>
            </a:r>
            <a:endParaRPr/>
          </a:p>
        </p:txBody>
      </p:sp>
      <p:sp>
        <p:nvSpPr>
          <p:cNvPr id="627" name="Google Shape;627;p41"/>
          <p:cNvSpPr/>
          <p:nvPr/>
        </p:nvSpPr>
        <p:spPr>
          <a:xfrm>
            <a:off x="771525" y="1000125"/>
            <a:ext cx="10648950" cy="190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32" name="Google Shape;63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33" name="Google Shape;633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638425"/>
            <a:ext cx="5133975" cy="2162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34" name="Google Shape;634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638425"/>
            <a:ext cx="5133975" cy="1962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35" name="Google Shape;635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590550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2"/>
          <p:cNvSpPr txBox="1"/>
          <p:nvPr/>
        </p:nvSpPr>
        <p:spPr>
          <a:xfrm>
            <a:off x="1009650" y="2876550"/>
            <a:ext cx="489061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Zhao et al. [2] (2023 TBGD)</a:t>
            </a:r>
            <a:endParaRPr/>
          </a:p>
        </p:txBody>
      </p:sp>
      <p:sp>
        <p:nvSpPr>
          <p:cNvPr id="637" name="Google Shape;637;p42"/>
          <p:cNvSpPr txBox="1"/>
          <p:nvPr/>
        </p:nvSpPr>
        <p:spPr>
          <a:xfrm>
            <a:off x="1009650" y="3209925"/>
            <a:ext cx="46577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Proposed the </a:t>
            </a: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TBGD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model, combining Transformers, BiGRUs, and DNN layers for multi-class classification.</a:t>
            </a:r>
            <a:endParaRPr/>
          </a:p>
        </p:txBody>
      </p:sp>
      <p:sp>
        <p:nvSpPr>
          <p:cNvPr id="638" name="Google Shape;638;p42"/>
          <p:cNvSpPr txBox="1"/>
          <p:nvPr/>
        </p:nvSpPr>
        <p:spPr>
          <a:xfrm>
            <a:off x="1009650" y="3686175"/>
            <a:ext cx="46577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Used custom oversampling (RUSK) to manage imbalanced minority categories.</a:t>
            </a:r>
            <a:endParaRPr/>
          </a:p>
        </p:txBody>
      </p:sp>
      <p:sp>
        <p:nvSpPr>
          <p:cNvPr id="639" name="Google Shape;639;p42"/>
          <p:cNvSpPr txBox="1"/>
          <p:nvPr/>
        </p:nvSpPr>
        <p:spPr>
          <a:xfrm>
            <a:off x="1009650" y="4162425"/>
            <a:ext cx="46577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complex deep architecture proving the power of automatic feature extraction over manual methods.</a:t>
            </a:r>
            <a:endParaRPr/>
          </a:p>
        </p:txBody>
      </p:sp>
      <p:sp>
        <p:nvSpPr>
          <p:cNvPr id="640" name="Google Shape;640;p42"/>
          <p:cNvSpPr txBox="1"/>
          <p:nvPr/>
        </p:nvSpPr>
        <p:spPr>
          <a:xfrm>
            <a:off x="6524625" y="2876550"/>
            <a:ext cx="489061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Nawaz et al. [15] (2023)</a:t>
            </a:r>
            <a:endParaRPr/>
          </a:p>
        </p:txBody>
      </p:sp>
      <p:sp>
        <p:nvSpPr>
          <p:cNvPr id="641" name="Google Shape;641;p42"/>
          <p:cNvSpPr txBox="1"/>
          <p:nvPr/>
        </p:nvSpPr>
        <p:spPr>
          <a:xfrm>
            <a:off x="6524625" y="3209925"/>
            <a:ext cx="46577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Ran 9-class CICIDS2017 evaluations with SMOTE-balanced recurrent models.</a:t>
            </a:r>
            <a:endParaRPr/>
          </a:p>
        </p:txBody>
      </p:sp>
      <p:sp>
        <p:nvSpPr>
          <p:cNvPr id="642" name="Google Shape;642;p42"/>
          <p:cNvSpPr txBox="1"/>
          <p:nvPr/>
        </p:nvSpPr>
        <p:spPr>
          <a:xfrm>
            <a:off x="6524625" y="3686175"/>
            <a:ext cx="46577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Key Result: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Obtained </a:t>
            </a: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98.67% accuracy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with their hybrid model.</a:t>
            </a:r>
            <a:endParaRPr/>
          </a:p>
        </p:txBody>
      </p:sp>
      <p:sp>
        <p:nvSpPr>
          <p:cNvPr id="643" name="Google Shape;643;p42"/>
          <p:cNvSpPr txBox="1"/>
          <p:nvPr/>
        </p:nvSpPr>
        <p:spPr>
          <a:xfrm>
            <a:off x="6524625" y="3962400"/>
            <a:ext cx="46577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Confirmed that minority-class F1 improves significantly under oversampling pipelines.</a:t>
            </a:r>
            <a:endParaRPr/>
          </a:p>
        </p:txBody>
      </p:sp>
      <p:sp>
        <p:nvSpPr>
          <p:cNvPr id="644" name="Google Shape;644;p42"/>
          <p:cNvSpPr txBox="1"/>
          <p:nvPr/>
        </p:nvSpPr>
        <p:spPr>
          <a:xfrm>
            <a:off x="1143000" y="485775"/>
            <a:ext cx="107913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Literature Focus: Deep Learning Track</a:t>
            </a:r>
            <a:endParaRPr/>
          </a:p>
        </p:txBody>
      </p:sp>
      <p:sp>
        <p:nvSpPr>
          <p:cNvPr id="645" name="Google Shape;645;p42"/>
          <p:cNvSpPr/>
          <p:nvPr/>
        </p:nvSpPr>
        <p:spPr>
          <a:xfrm>
            <a:off x="771525" y="1000125"/>
            <a:ext cx="10648950" cy="190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50" name="Google Shape;650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51" name="Google Shape;651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590550"/>
            <a:ext cx="285750" cy="228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52" name="Google Shape;652;p43"/>
          <p:cNvGraphicFramePr/>
          <p:nvPr/>
        </p:nvGraphicFramePr>
        <p:xfrm>
          <a:off x="771525" y="27098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{2A9026A8-B2F2-45B2-8AF8-5DC6FBDDCD7D}</a:tableStyleId>
              </a:tblPr>
              <a:tblGrid>
                <a:gridCol w="2536325"/>
                <a:gridCol w="3233725"/>
                <a:gridCol w="1888325"/>
                <a:gridCol w="2981025"/>
              </a:tblGrid>
              <a:tr h="40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Published Study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Approach / Model Used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Reported Metrics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Task Scope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0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Halbouni et al. (2022)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Hybrid CNN-LSTM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94.70% Precision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Binary Classification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Zhang et al. (2021)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Stacked Autoencoder + RF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99.92% Accuracy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Multi-Class Classification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Nawaz et al. (2023)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CNN + LSTM (SMOTE)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98.67% Accuracy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9-Class Multiclass Classification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Our Project (ANN Binary)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563EB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Optimized ANN (5-Dense Layers)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16A34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96.45% Accuracy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563EB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Binary Deployed Pipeline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53" name="Google Shape;653;p43"/>
          <p:cNvSpPr/>
          <p:nvPr/>
        </p:nvSpPr>
        <p:spPr>
          <a:xfrm>
            <a:off x="776287" y="3100387"/>
            <a:ext cx="2536328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43"/>
          <p:cNvSpPr/>
          <p:nvPr/>
        </p:nvSpPr>
        <p:spPr>
          <a:xfrm>
            <a:off x="3312616" y="3100387"/>
            <a:ext cx="3233737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43"/>
          <p:cNvSpPr/>
          <p:nvPr/>
        </p:nvSpPr>
        <p:spPr>
          <a:xfrm>
            <a:off x="6546353" y="3100387"/>
            <a:ext cx="1888331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43"/>
          <p:cNvSpPr/>
          <p:nvPr/>
        </p:nvSpPr>
        <p:spPr>
          <a:xfrm>
            <a:off x="8434685" y="3100387"/>
            <a:ext cx="2981027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43"/>
          <p:cNvSpPr/>
          <p:nvPr/>
        </p:nvSpPr>
        <p:spPr>
          <a:xfrm>
            <a:off x="776287" y="3514725"/>
            <a:ext cx="25363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43"/>
          <p:cNvSpPr/>
          <p:nvPr/>
        </p:nvSpPr>
        <p:spPr>
          <a:xfrm>
            <a:off x="3312616" y="3514725"/>
            <a:ext cx="32337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43"/>
          <p:cNvSpPr/>
          <p:nvPr/>
        </p:nvSpPr>
        <p:spPr>
          <a:xfrm>
            <a:off x="6546353" y="3514725"/>
            <a:ext cx="188833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43"/>
          <p:cNvSpPr/>
          <p:nvPr/>
        </p:nvSpPr>
        <p:spPr>
          <a:xfrm>
            <a:off x="8434685" y="3514725"/>
            <a:ext cx="298102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43"/>
          <p:cNvSpPr/>
          <p:nvPr/>
        </p:nvSpPr>
        <p:spPr>
          <a:xfrm>
            <a:off x="776287" y="3914775"/>
            <a:ext cx="25363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43"/>
          <p:cNvSpPr/>
          <p:nvPr/>
        </p:nvSpPr>
        <p:spPr>
          <a:xfrm>
            <a:off x="3312616" y="3914775"/>
            <a:ext cx="32337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43"/>
          <p:cNvSpPr/>
          <p:nvPr/>
        </p:nvSpPr>
        <p:spPr>
          <a:xfrm>
            <a:off x="6546353" y="3914775"/>
            <a:ext cx="188833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43"/>
          <p:cNvSpPr/>
          <p:nvPr/>
        </p:nvSpPr>
        <p:spPr>
          <a:xfrm>
            <a:off x="8434685" y="3914775"/>
            <a:ext cx="298102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43"/>
          <p:cNvSpPr/>
          <p:nvPr/>
        </p:nvSpPr>
        <p:spPr>
          <a:xfrm>
            <a:off x="776287" y="4314825"/>
            <a:ext cx="25363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43"/>
          <p:cNvSpPr/>
          <p:nvPr/>
        </p:nvSpPr>
        <p:spPr>
          <a:xfrm>
            <a:off x="3312616" y="4314825"/>
            <a:ext cx="32337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43"/>
          <p:cNvSpPr/>
          <p:nvPr/>
        </p:nvSpPr>
        <p:spPr>
          <a:xfrm>
            <a:off x="6546353" y="4314825"/>
            <a:ext cx="188833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43"/>
          <p:cNvSpPr/>
          <p:nvPr/>
        </p:nvSpPr>
        <p:spPr>
          <a:xfrm>
            <a:off x="8434685" y="4314825"/>
            <a:ext cx="298102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43"/>
          <p:cNvSpPr txBox="1"/>
          <p:nvPr/>
        </p:nvSpPr>
        <p:spPr>
          <a:xfrm>
            <a:off x="1171575" y="485775"/>
            <a:ext cx="1076134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Literature Benchmarking Comparison</a:t>
            </a:r>
            <a:endParaRPr/>
          </a:p>
        </p:txBody>
      </p:sp>
      <p:sp>
        <p:nvSpPr>
          <p:cNvPr id="670" name="Google Shape;670;p43"/>
          <p:cNvSpPr/>
          <p:nvPr/>
        </p:nvSpPr>
        <p:spPr>
          <a:xfrm>
            <a:off x="771525" y="1000125"/>
            <a:ext cx="10648950" cy="190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75" name="Google Shape;67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76" name="Google Shape;676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59055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44"/>
          <p:cNvSpPr txBox="1"/>
          <p:nvPr/>
        </p:nvSpPr>
        <p:spPr>
          <a:xfrm>
            <a:off x="771525" y="2545556"/>
            <a:ext cx="106489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Headline accuracy hides class-level failure. Here we line up Nawaz et al.’s per-class test results against our classical ML multi-class numbers:</a:t>
            </a:r>
            <a:endParaRPr/>
          </a:p>
        </p:txBody>
      </p:sp>
      <p:graphicFrame>
        <p:nvGraphicFramePr>
          <p:cNvPr id="678" name="Google Shape;678;p44"/>
          <p:cNvGraphicFramePr/>
          <p:nvPr/>
        </p:nvGraphicFramePr>
        <p:xfrm>
          <a:off x="771525" y="287416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{2A9026A8-B2F2-45B2-8AF8-5DC6FBDDCD7D}</a:tableStyleId>
              </a:tblPr>
              <a:tblGrid>
                <a:gridCol w="1822400"/>
                <a:gridCol w="1948300"/>
                <a:gridCol w="2703600"/>
                <a:gridCol w="4165100"/>
              </a:tblGrid>
              <a:tr h="40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Source Study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Target Class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Class Performance Metrics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Target Threat Characteristics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0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Nawaz et al. (2023)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SSH / FTP Brute Force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F1-Score: 0.92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Solid recall, but high false positive rate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Our Classical Track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DDoS &amp; Brute Force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16A34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F1-Score: 0.99 (P/R: 0.99)</a:t>
                      </a:r>
                      <a:r>
                        <a:rPr lang="en-US" sz="1050">
                          <a:solidFill>
                            <a:srgbClr val="16A34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/>
                      </a:r>
                      <a:r>
                        <a:rPr b="0" i="0" lang="en-US" sz="1050" u="none" cap="none" strike="noStrike">
                          <a:solidFill>
                            <a:srgbClr val="16A34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/>
                      </a:r>
                      <a:r>
                        <a:rPr lang="en-US" sz="1050">
                          <a:solidFill>
                            <a:srgbClr val="16A34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/>
                      </a:r>
                      <a:r>
                        <a:rPr b="0" i="0" lang="en-US" sz="1050" u="none" cap="none" strike="noStrike">
                          <a:solidFill>
                            <a:srgbClr val="16A34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/>
                      </a:r>
                      <a:r>
                        <a:rPr lang="en-US" sz="1050">
                          <a:solidFill>
                            <a:srgbClr val="16A34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/>
                      </a:r>
                      <a:r>
                        <a:rPr b="0" i="0" lang="en-US" sz="1050" u="none" cap="none" strike="noStrike">
                          <a:solidFill>
                            <a:srgbClr val="16A34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Perfect precision and recall; no false alarms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Nawaz et al. (2023)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Botnet Class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DC2626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F1-Score: 0.58 (Precision: 0.41)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Precision collapsed even with Focal Loss rebalancing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Our Classical Track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Botnet Class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563EB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Recall: 98.64% (RF) / 61.67% (XGBoost)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RF leads on Botnet; XGBoost wins overall accuracy via 16 selected features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79" name="Google Shape;679;p44"/>
          <p:cNvSpPr/>
          <p:nvPr/>
        </p:nvSpPr>
        <p:spPr>
          <a:xfrm>
            <a:off x="776287" y="3264693"/>
            <a:ext cx="1822400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44"/>
          <p:cNvSpPr/>
          <p:nvPr/>
        </p:nvSpPr>
        <p:spPr>
          <a:xfrm>
            <a:off x="2598687" y="3264693"/>
            <a:ext cx="1948308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44"/>
          <p:cNvSpPr/>
          <p:nvPr/>
        </p:nvSpPr>
        <p:spPr>
          <a:xfrm>
            <a:off x="4546996" y="3264693"/>
            <a:ext cx="2703611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44"/>
          <p:cNvSpPr/>
          <p:nvPr/>
        </p:nvSpPr>
        <p:spPr>
          <a:xfrm>
            <a:off x="7250608" y="3264693"/>
            <a:ext cx="4165103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44"/>
          <p:cNvSpPr/>
          <p:nvPr/>
        </p:nvSpPr>
        <p:spPr>
          <a:xfrm>
            <a:off x="776287" y="3679031"/>
            <a:ext cx="1822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44"/>
          <p:cNvSpPr/>
          <p:nvPr/>
        </p:nvSpPr>
        <p:spPr>
          <a:xfrm>
            <a:off x="2598687" y="3679031"/>
            <a:ext cx="19483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44"/>
          <p:cNvSpPr/>
          <p:nvPr/>
        </p:nvSpPr>
        <p:spPr>
          <a:xfrm>
            <a:off x="4546996" y="3679031"/>
            <a:ext cx="27036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44"/>
          <p:cNvSpPr/>
          <p:nvPr/>
        </p:nvSpPr>
        <p:spPr>
          <a:xfrm>
            <a:off x="7250608" y="3679031"/>
            <a:ext cx="41651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44"/>
          <p:cNvSpPr/>
          <p:nvPr/>
        </p:nvSpPr>
        <p:spPr>
          <a:xfrm>
            <a:off x="776287" y="4079081"/>
            <a:ext cx="1822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44"/>
          <p:cNvSpPr/>
          <p:nvPr/>
        </p:nvSpPr>
        <p:spPr>
          <a:xfrm>
            <a:off x="2598687" y="4079081"/>
            <a:ext cx="19483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44"/>
          <p:cNvSpPr/>
          <p:nvPr/>
        </p:nvSpPr>
        <p:spPr>
          <a:xfrm>
            <a:off x="4546996" y="4079081"/>
            <a:ext cx="27036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44"/>
          <p:cNvSpPr/>
          <p:nvPr/>
        </p:nvSpPr>
        <p:spPr>
          <a:xfrm>
            <a:off x="7250608" y="4079081"/>
            <a:ext cx="41651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44"/>
          <p:cNvSpPr/>
          <p:nvPr/>
        </p:nvSpPr>
        <p:spPr>
          <a:xfrm>
            <a:off x="776287" y="4479131"/>
            <a:ext cx="1822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44"/>
          <p:cNvSpPr/>
          <p:nvPr/>
        </p:nvSpPr>
        <p:spPr>
          <a:xfrm>
            <a:off x="2598687" y="4479131"/>
            <a:ext cx="19483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44"/>
          <p:cNvSpPr/>
          <p:nvPr/>
        </p:nvSpPr>
        <p:spPr>
          <a:xfrm>
            <a:off x="4546996" y="4479131"/>
            <a:ext cx="27036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44"/>
          <p:cNvSpPr/>
          <p:nvPr/>
        </p:nvSpPr>
        <p:spPr>
          <a:xfrm>
            <a:off x="7250608" y="4479131"/>
            <a:ext cx="416510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44"/>
          <p:cNvSpPr txBox="1"/>
          <p:nvPr/>
        </p:nvSpPr>
        <p:spPr>
          <a:xfrm>
            <a:off x="1114425" y="485775"/>
            <a:ext cx="108213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Per-Class Multi-Class Benchmark Details</a:t>
            </a:r>
            <a:endParaRPr/>
          </a:p>
        </p:txBody>
      </p:sp>
      <p:sp>
        <p:nvSpPr>
          <p:cNvPr id="696" name="Google Shape;696;p44"/>
          <p:cNvSpPr/>
          <p:nvPr/>
        </p:nvSpPr>
        <p:spPr>
          <a:xfrm>
            <a:off x="771525" y="1000125"/>
            <a:ext cx="10648950" cy="190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01" name="Google Shape;70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45"/>
          <p:cNvSpPr/>
          <p:nvPr/>
        </p:nvSpPr>
        <p:spPr>
          <a:xfrm>
            <a:off x="5619750" y="2626072"/>
            <a:ext cx="9525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45"/>
          <p:cNvSpPr txBox="1"/>
          <p:nvPr/>
        </p:nvSpPr>
        <p:spPr>
          <a:xfrm>
            <a:off x="1240393" y="2902297"/>
            <a:ext cx="9711213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Section 6: Attack Taxonomy &amp; Lab Setup</a:t>
            </a:r>
            <a:endParaRPr/>
          </a:p>
        </p:txBody>
      </p:sp>
      <p:sp>
        <p:nvSpPr>
          <p:cNvPr id="704" name="Google Shape;704;p45"/>
          <p:cNvSpPr txBox="1"/>
          <p:nvPr/>
        </p:nvSpPr>
        <p:spPr>
          <a:xfrm>
            <a:off x="2762250" y="3730972"/>
            <a:ext cx="66675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Technical workflows, target signatures, and the virtual VMware laboratory environment used for validation.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09" name="Google Shape;70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10" name="Google Shape;710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681287"/>
            <a:ext cx="5133975" cy="18907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11" name="Google Shape;711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681287"/>
            <a:ext cx="5133975" cy="2076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12" name="Google Shape;712;p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59055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p46"/>
          <p:cNvSpPr txBox="1"/>
          <p:nvPr/>
        </p:nvSpPr>
        <p:spPr>
          <a:xfrm>
            <a:off x="1009650" y="2919412"/>
            <a:ext cx="489061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Denial of Service (DoS)</a:t>
            </a:r>
            <a:endParaRPr/>
          </a:p>
        </p:txBody>
      </p:sp>
      <p:sp>
        <p:nvSpPr>
          <p:cNvPr id="714" name="Google Shape;714;p46"/>
          <p:cNvSpPr txBox="1"/>
          <p:nvPr/>
        </p:nvSpPr>
        <p:spPr>
          <a:xfrm>
            <a:off x="1009650" y="3252787"/>
            <a:ext cx="46577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Mechanism: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 single attacker node exhausts server socket buffers or CPU resources to prevent access.</a:t>
            </a:r>
            <a:endParaRPr/>
          </a:p>
        </p:txBody>
      </p:sp>
      <p:sp>
        <p:nvSpPr>
          <p:cNvPr id="715" name="Google Shape;715;p46"/>
          <p:cNvSpPr txBox="1"/>
          <p:nvPr/>
        </p:nvSpPr>
        <p:spPr>
          <a:xfrm>
            <a:off x="1009650" y="3700462"/>
            <a:ext cx="46577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Flow Signature: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Flow IAT Std drops significantly; Fwd Packets/s rises.</a:t>
            </a:r>
            <a:endParaRPr/>
          </a:p>
        </p:txBody>
      </p:sp>
      <p:sp>
        <p:nvSpPr>
          <p:cNvPr id="716" name="Google Shape;716;p46"/>
          <p:cNvSpPr txBox="1"/>
          <p:nvPr/>
        </p:nvSpPr>
        <p:spPr>
          <a:xfrm>
            <a:off x="1009650" y="3962400"/>
            <a:ext cx="46577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Lab Evidence: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Executed via hping3 against Metasploitable targets; triggered instant CPU exhaustion.</a:t>
            </a:r>
            <a:endParaRPr/>
          </a:p>
        </p:txBody>
      </p:sp>
      <p:sp>
        <p:nvSpPr>
          <p:cNvPr id="717" name="Google Shape;717;p46"/>
          <p:cNvSpPr txBox="1"/>
          <p:nvPr/>
        </p:nvSpPr>
        <p:spPr>
          <a:xfrm>
            <a:off x="6524625" y="2919412"/>
            <a:ext cx="489061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952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Distributed DoS (DDoS)</a:t>
            </a:r>
            <a:endParaRPr/>
          </a:p>
        </p:txBody>
      </p:sp>
      <p:sp>
        <p:nvSpPr>
          <p:cNvPr id="718" name="Google Shape;718;p46"/>
          <p:cNvSpPr txBox="1"/>
          <p:nvPr/>
        </p:nvSpPr>
        <p:spPr>
          <a:xfrm>
            <a:off x="6524625" y="3252787"/>
            <a:ext cx="46577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Mechanism: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Coordinated flooding from thousands of distributed botnet nodes simultaneously.</a:t>
            </a:r>
            <a:endParaRPr/>
          </a:p>
        </p:txBody>
      </p:sp>
      <p:sp>
        <p:nvSpPr>
          <p:cNvPr id="719" name="Google Shape;719;p46"/>
          <p:cNvSpPr txBox="1"/>
          <p:nvPr/>
        </p:nvSpPr>
        <p:spPr>
          <a:xfrm>
            <a:off x="6524625" y="3700462"/>
            <a:ext cx="46577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Flow Signature: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Extreme inbound Flow Bytes/s spike, accompanied by high source IP entropy.</a:t>
            </a:r>
            <a:endParaRPr/>
          </a:p>
        </p:txBody>
      </p:sp>
      <p:sp>
        <p:nvSpPr>
          <p:cNvPr id="720" name="Google Shape;720;p46"/>
          <p:cNvSpPr txBox="1"/>
          <p:nvPr/>
        </p:nvSpPr>
        <p:spPr>
          <a:xfrm>
            <a:off x="6524625" y="4148137"/>
            <a:ext cx="46577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Lab Evidence: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Multi-VM coordinated HTTP flood; logged via Wireshark on the gateway bridge.</a:t>
            </a:r>
            <a:endParaRPr/>
          </a:p>
        </p:txBody>
      </p:sp>
      <p:pic>
        <p:nvPicPr>
          <p:cNvPr descr="image.png" id="721" name="Google Shape;721;p4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9650" y="2967037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22" name="Google Shape;722;p4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24625" y="2967037"/>
            <a:ext cx="2190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p46"/>
          <p:cNvSpPr txBox="1"/>
          <p:nvPr/>
        </p:nvSpPr>
        <p:spPr>
          <a:xfrm>
            <a:off x="1114425" y="485775"/>
            <a:ext cx="108213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Attacks 1 &amp; 2: DoS &amp; DDoS Flooding</a:t>
            </a:r>
            <a:endParaRPr/>
          </a:p>
        </p:txBody>
      </p:sp>
      <p:sp>
        <p:nvSpPr>
          <p:cNvPr id="724" name="Google Shape;724;p46"/>
          <p:cNvSpPr/>
          <p:nvPr/>
        </p:nvSpPr>
        <p:spPr>
          <a:xfrm>
            <a:off x="771525" y="1000125"/>
            <a:ext cx="10648950" cy="190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29" name="Google Shape;729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30" name="Google Shape;730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681287"/>
            <a:ext cx="5133975" cy="2076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31" name="Google Shape;731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681287"/>
            <a:ext cx="5133975" cy="2076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32" name="Google Shape;732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59055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33" name="Google Shape;733;p47"/>
          <p:cNvSpPr txBox="1"/>
          <p:nvPr/>
        </p:nvSpPr>
        <p:spPr>
          <a:xfrm>
            <a:off x="1009650" y="2919412"/>
            <a:ext cx="489061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SSH/FTP Brute Force</a:t>
            </a:r>
            <a:endParaRPr/>
          </a:p>
        </p:txBody>
      </p:sp>
      <p:sp>
        <p:nvSpPr>
          <p:cNvPr id="734" name="Google Shape;734;p47"/>
          <p:cNvSpPr txBox="1"/>
          <p:nvPr/>
        </p:nvSpPr>
        <p:spPr>
          <a:xfrm>
            <a:off x="1009650" y="3252787"/>
            <a:ext cx="46577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Mechanism: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Automated dictionary tools systematically attempt to authenticate against standard administrative ports (21, 22).</a:t>
            </a:r>
            <a:endParaRPr/>
          </a:p>
        </p:txBody>
      </p:sp>
      <p:sp>
        <p:nvSpPr>
          <p:cNvPr id="735" name="Google Shape;735;p47"/>
          <p:cNvSpPr txBox="1"/>
          <p:nvPr/>
        </p:nvSpPr>
        <p:spPr>
          <a:xfrm>
            <a:off x="1009650" y="3700462"/>
            <a:ext cx="46577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Flow Signature: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Highly repetitive, short Flow Duration connections with reset headers.</a:t>
            </a:r>
            <a:endParaRPr/>
          </a:p>
        </p:txBody>
      </p:sp>
      <p:sp>
        <p:nvSpPr>
          <p:cNvPr id="736" name="Google Shape;736;p47"/>
          <p:cNvSpPr txBox="1"/>
          <p:nvPr/>
        </p:nvSpPr>
        <p:spPr>
          <a:xfrm>
            <a:off x="1009650" y="4148137"/>
            <a:ext cx="46577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Lab Evidence: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Executed using Hydra, triggering sequential failed authentication logs on target VMs.</a:t>
            </a:r>
            <a:endParaRPr/>
          </a:p>
        </p:txBody>
      </p:sp>
      <p:sp>
        <p:nvSpPr>
          <p:cNvPr id="737" name="Google Shape;737;p47"/>
          <p:cNvSpPr txBox="1"/>
          <p:nvPr/>
        </p:nvSpPr>
        <p:spPr>
          <a:xfrm>
            <a:off x="6524625" y="2919412"/>
            <a:ext cx="489061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Infiltration Campaigns</a:t>
            </a:r>
            <a:endParaRPr/>
          </a:p>
        </p:txBody>
      </p:sp>
      <p:sp>
        <p:nvSpPr>
          <p:cNvPr id="738" name="Google Shape;738;p47"/>
          <p:cNvSpPr txBox="1"/>
          <p:nvPr/>
        </p:nvSpPr>
        <p:spPr>
          <a:xfrm>
            <a:off x="6524625" y="3252787"/>
            <a:ext cx="46577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Mechanism: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Vulnerability exploitation to establish a backdoor command shell, followed by lateral pivot movement.</a:t>
            </a:r>
            <a:endParaRPr/>
          </a:p>
        </p:txBody>
      </p:sp>
      <p:sp>
        <p:nvSpPr>
          <p:cNvPr id="739" name="Google Shape;739;p47"/>
          <p:cNvSpPr txBox="1"/>
          <p:nvPr/>
        </p:nvSpPr>
        <p:spPr>
          <a:xfrm>
            <a:off x="6524625" y="3700462"/>
            <a:ext cx="46577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Flow Signature: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Asymmetric Packet Length Std representing interactive terminal traffic.</a:t>
            </a:r>
            <a:endParaRPr/>
          </a:p>
        </p:txBody>
      </p:sp>
      <p:sp>
        <p:nvSpPr>
          <p:cNvPr id="740" name="Google Shape;740;p47"/>
          <p:cNvSpPr txBox="1"/>
          <p:nvPr/>
        </p:nvSpPr>
        <p:spPr>
          <a:xfrm>
            <a:off x="6524625" y="4148137"/>
            <a:ext cx="46577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Lab Evidence: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Metasploit payload delivery; established persistent crontab listener scripts on the victim host.</a:t>
            </a:r>
            <a:endParaRPr/>
          </a:p>
        </p:txBody>
      </p:sp>
      <p:pic>
        <p:nvPicPr>
          <p:cNvPr descr="image.png" id="741" name="Google Shape;741;p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9650" y="2967037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42" name="Google Shape;742;p4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24625" y="2967037"/>
            <a:ext cx="1524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47"/>
          <p:cNvSpPr txBox="1"/>
          <p:nvPr/>
        </p:nvSpPr>
        <p:spPr>
          <a:xfrm>
            <a:off x="1114425" y="485775"/>
            <a:ext cx="108213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Attacks 3 &amp; 4: Brute Force &amp; Infiltration</a:t>
            </a:r>
            <a:endParaRPr/>
          </a:p>
        </p:txBody>
      </p:sp>
      <p:sp>
        <p:nvSpPr>
          <p:cNvPr id="744" name="Google Shape;744;p47"/>
          <p:cNvSpPr/>
          <p:nvPr/>
        </p:nvSpPr>
        <p:spPr>
          <a:xfrm>
            <a:off x="771525" y="1000125"/>
            <a:ext cx="10648950" cy="190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49" name="Google Shape;749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50" name="Google Shape;750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681287"/>
            <a:ext cx="5133975" cy="2076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51" name="Google Shape;751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681287"/>
            <a:ext cx="5133975" cy="2076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52" name="Google Shape;752;p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59055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p48"/>
          <p:cNvSpPr txBox="1"/>
          <p:nvPr/>
        </p:nvSpPr>
        <p:spPr>
          <a:xfrm>
            <a:off x="1009650" y="2919412"/>
            <a:ext cx="489061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952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Botnet Activity</a:t>
            </a:r>
            <a:endParaRPr/>
          </a:p>
        </p:txBody>
      </p:sp>
      <p:sp>
        <p:nvSpPr>
          <p:cNvPr id="754" name="Google Shape;754;p48"/>
          <p:cNvSpPr txBox="1"/>
          <p:nvPr/>
        </p:nvSpPr>
        <p:spPr>
          <a:xfrm>
            <a:off x="1009650" y="3252787"/>
            <a:ext cx="46577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Mechanism: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Infected internal machines communicate periodically with an external Command and Control (C&amp;C) server.</a:t>
            </a:r>
            <a:endParaRPr/>
          </a:p>
        </p:txBody>
      </p:sp>
      <p:sp>
        <p:nvSpPr>
          <p:cNvPr id="755" name="Google Shape;755;p48"/>
          <p:cNvSpPr txBox="1"/>
          <p:nvPr/>
        </p:nvSpPr>
        <p:spPr>
          <a:xfrm>
            <a:off x="1009650" y="3700462"/>
            <a:ext cx="46577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Flow Signature: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Highly uniform Flow IAT Mean representing strict timer beacon checks.</a:t>
            </a:r>
            <a:endParaRPr/>
          </a:p>
        </p:txBody>
      </p:sp>
      <p:sp>
        <p:nvSpPr>
          <p:cNvPr id="756" name="Google Shape;756;p48"/>
          <p:cNvSpPr txBox="1"/>
          <p:nvPr/>
        </p:nvSpPr>
        <p:spPr>
          <a:xfrm>
            <a:off x="1009650" y="4148137"/>
            <a:ext cx="46577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Lab Evidence: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Multiple local agents communicating with a central Kali Linux handler VM.</a:t>
            </a:r>
            <a:endParaRPr/>
          </a:p>
        </p:txBody>
      </p:sp>
      <p:sp>
        <p:nvSpPr>
          <p:cNvPr id="757" name="Google Shape;757;p48"/>
          <p:cNvSpPr txBox="1"/>
          <p:nvPr/>
        </p:nvSpPr>
        <p:spPr>
          <a:xfrm>
            <a:off x="6524625" y="2919412"/>
            <a:ext cx="489061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Heartbleed Exploit (CVE-2014-0160)</a:t>
            </a:r>
            <a:endParaRPr/>
          </a:p>
        </p:txBody>
      </p:sp>
      <p:sp>
        <p:nvSpPr>
          <p:cNvPr id="758" name="Google Shape;758;p48"/>
          <p:cNvSpPr txBox="1"/>
          <p:nvPr/>
        </p:nvSpPr>
        <p:spPr>
          <a:xfrm>
            <a:off x="6524625" y="3252787"/>
            <a:ext cx="46577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Mechanism: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OpenSSL heartbeat length bounds check failure, allowing attackers to read private server memory buffers.</a:t>
            </a:r>
            <a:endParaRPr/>
          </a:p>
        </p:txBody>
      </p:sp>
      <p:sp>
        <p:nvSpPr>
          <p:cNvPr id="759" name="Google Shape;759;p48"/>
          <p:cNvSpPr txBox="1"/>
          <p:nvPr/>
        </p:nvSpPr>
        <p:spPr>
          <a:xfrm>
            <a:off x="6524625" y="3700462"/>
            <a:ext cx="46577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Flow Signature: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Asymmetric response size with unusually large Bwd Packet Length Mean.</a:t>
            </a:r>
            <a:endParaRPr/>
          </a:p>
        </p:txBody>
      </p:sp>
      <p:sp>
        <p:nvSpPr>
          <p:cNvPr id="760" name="Google Shape;760;p48"/>
          <p:cNvSpPr txBox="1"/>
          <p:nvPr/>
        </p:nvSpPr>
        <p:spPr>
          <a:xfrm>
            <a:off x="6524625" y="4148137"/>
            <a:ext cx="46577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Lab Evidence: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Exploited via Metasploit, successfully retrieving mock token flag: THM{sSl-Is-BaD}.</a:t>
            </a:r>
            <a:endParaRPr/>
          </a:p>
        </p:txBody>
      </p:sp>
      <p:pic>
        <p:nvPicPr>
          <p:cNvPr descr="image.png" id="761" name="Google Shape;761;p4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9650" y="2967037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62" name="Google Shape;762;p4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24625" y="2967037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763" name="Google Shape;763;p48"/>
          <p:cNvSpPr txBox="1"/>
          <p:nvPr/>
        </p:nvSpPr>
        <p:spPr>
          <a:xfrm>
            <a:off x="1114425" y="485775"/>
            <a:ext cx="108213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Attacks 5 &amp; 6: Botnet &amp; Heartbleed</a:t>
            </a:r>
            <a:endParaRPr/>
          </a:p>
        </p:txBody>
      </p:sp>
      <p:sp>
        <p:nvSpPr>
          <p:cNvPr id="764" name="Google Shape;764;p48"/>
          <p:cNvSpPr/>
          <p:nvPr/>
        </p:nvSpPr>
        <p:spPr>
          <a:xfrm>
            <a:off x="771525" y="1000125"/>
            <a:ext cx="10648950" cy="190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69" name="Google Shape;76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70" name="Google Shape;770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774156"/>
            <a:ext cx="3422600" cy="18907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71" name="Google Shape;771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4625" y="2774156"/>
            <a:ext cx="3422600" cy="18907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72" name="Google Shape;772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97725" y="2774156"/>
            <a:ext cx="3422749" cy="18907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73" name="Google Shape;773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590550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74" name="Google Shape;774;p49"/>
          <p:cNvSpPr txBox="1"/>
          <p:nvPr/>
        </p:nvSpPr>
        <p:spPr>
          <a:xfrm>
            <a:off x="1009650" y="3450431"/>
            <a:ext cx="309366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Isolated Sandbox</a:t>
            </a:r>
            <a:endParaRPr/>
          </a:p>
        </p:txBody>
      </p:sp>
      <p:sp>
        <p:nvSpPr>
          <p:cNvPr id="775" name="Google Shape;775;p49"/>
          <p:cNvSpPr txBox="1"/>
          <p:nvPr/>
        </p:nvSpPr>
        <p:spPr>
          <a:xfrm>
            <a:off x="1009650" y="3783806"/>
            <a:ext cx="294635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VMware workstation virtualization using private host-only virtual adapters to isolate attack scripts.</a:t>
            </a:r>
            <a:endParaRPr/>
          </a:p>
        </p:txBody>
      </p:sp>
      <p:sp>
        <p:nvSpPr>
          <p:cNvPr id="776" name="Google Shape;776;p49"/>
          <p:cNvSpPr txBox="1"/>
          <p:nvPr/>
        </p:nvSpPr>
        <p:spPr>
          <a:xfrm>
            <a:off x="4622750" y="3450431"/>
            <a:ext cx="309366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Target OS Targets</a:t>
            </a:r>
            <a:endParaRPr/>
          </a:p>
        </p:txBody>
      </p:sp>
      <p:sp>
        <p:nvSpPr>
          <p:cNvPr id="777" name="Google Shape;777;p49"/>
          <p:cNvSpPr txBox="1"/>
          <p:nvPr/>
        </p:nvSpPr>
        <p:spPr>
          <a:xfrm>
            <a:off x="4622750" y="3783806"/>
            <a:ext cx="294635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Metasploitable 2 &amp; Metasploitable 3 running as insecure servers to test exploitable threats.</a:t>
            </a:r>
            <a:endParaRPr/>
          </a:p>
        </p:txBody>
      </p:sp>
      <p:sp>
        <p:nvSpPr>
          <p:cNvPr id="778" name="Google Shape;778;p49"/>
          <p:cNvSpPr txBox="1"/>
          <p:nvPr/>
        </p:nvSpPr>
        <p:spPr>
          <a:xfrm>
            <a:off x="8235850" y="3450431"/>
            <a:ext cx="3093824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Traffic Sniffer VM</a:t>
            </a:r>
            <a:endParaRPr/>
          </a:p>
        </p:txBody>
      </p:sp>
      <p:sp>
        <p:nvSpPr>
          <p:cNvPr id="779" name="Google Shape;779;p49"/>
          <p:cNvSpPr txBox="1"/>
          <p:nvPr/>
        </p:nvSpPr>
        <p:spPr>
          <a:xfrm>
            <a:off x="8235850" y="3783806"/>
            <a:ext cx="2946499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Dedicated routing node running Wireshark to inspect flow timing, TCP markers, and output captures.</a:t>
            </a:r>
            <a:endParaRPr/>
          </a:p>
        </p:txBody>
      </p:sp>
      <p:pic>
        <p:nvPicPr>
          <p:cNvPr descr="image.png" id="780" name="Google Shape;780;p4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9650" y="3040856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81" name="Google Shape;781;p4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22750" y="3040856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82" name="Google Shape;782;p4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35850" y="3040856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49"/>
          <p:cNvSpPr txBox="1"/>
          <p:nvPr/>
        </p:nvSpPr>
        <p:spPr>
          <a:xfrm>
            <a:off x="1085850" y="485775"/>
            <a:ext cx="108513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Laboratory Security Setup</a:t>
            </a:r>
            <a:endParaRPr/>
          </a:p>
        </p:txBody>
      </p:sp>
      <p:sp>
        <p:nvSpPr>
          <p:cNvPr id="784" name="Google Shape;784;p49"/>
          <p:cNvSpPr/>
          <p:nvPr/>
        </p:nvSpPr>
        <p:spPr>
          <a:xfrm>
            <a:off x="771525" y="1000125"/>
            <a:ext cx="10648950" cy="190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89" name="Google Shape;789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50"/>
          <p:cNvSpPr/>
          <p:nvPr/>
        </p:nvSpPr>
        <p:spPr>
          <a:xfrm>
            <a:off x="5619750" y="2626072"/>
            <a:ext cx="9525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50"/>
          <p:cNvSpPr txBox="1"/>
          <p:nvPr/>
        </p:nvSpPr>
        <p:spPr>
          <a:xfrm>
            <a:off x="932854" y="2902297"/>
            <a:ext cx="1032629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Section 7: Integrated Software Deployment</a:t>
            </a:r>
            <a:endParaRPr/>
          </a:p>
        </p:txBody>
      </p:sp>
      <p:sp>
        <p:nvSpPr>
          <p:cNvPr id="792" name="Google Shape;792;p50"/>
          <p:cNvSpPr txBox="1"/>
          <p:nvPr/>
        </p:nvSpPr>
        <p:spPr>
          <a:xfrm>
            <a:off x="2762250" y="3730972"/>
            <a:ext cx="66675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 Practical Runtime Pipeline: Preprocessing, Saved Scaler Integration, and the Live Flask Dashboard Demonstration.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97" name="Google Shape;79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98" name="Google Shape;798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3214687"/>
            <a:ext cx="1916757" cy="1009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99" name="Google Shape;799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54535" y="3214687"/>
            <a:ext cx="1916757" cy="1009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00" name="Google Shape;800;p5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37546" y="3214687"/>
            <a:ext cx="1916757" cy="1009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01" name="Google Shape;801;p5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20557" y="3214687"/>
            <a:ext cx="1916757" cy="1009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02" name="Google Shape;802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03568" y="3214687"/>
            <a:ext cx="1916757" cy="1009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03" name="Google Shape;803;p5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1525" y="590550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04" name="Google Shape;804;p5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697803" y="3630662"/>
            <a:ext cx="11430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51"/>
          <p:cNvSpPr txBox="1"/>
          <p:nvPr/>
        </p:nvSpPr>
        <p:spPr>
          <a:xfrm>
            <a:off x="883626" y="3414712"/>
            <a:ext cx="169255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Raw Dataset</a:t>
            </a:r>
            <a:endParaRPr/>
          </a:p>
        </p:txBody>
      </p:sp>
      <p:sp>
        <p:nvSpPr>
          <p:cNvPr id="806" name="Google Shape;806;p51"/>
          <p:cNvSpPr txBox="1"/>
          <p:nvPr/>
        </p:nvSpPr>
        <p:spPr>
          <a:xfrm>
            <a:off x="923925" y="3681412"/>
            <a:ext cx="161195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Acquiring flow metrics from benchmark files.</a:t>
            </a:r>
            <a:endParaRPr/>
          </a:p>
        </p:txBody>
      </p:sp>
      <p:pic>
        <p:nvPicPr>
          <p:cNvPr descr="image.png" id="807" name="Google Shape;807;p5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80814" y="3630662"/>
            <a:ext cx="11430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p51"/>
          <p:cNvSpPr txBox="1"/>
          <p:nvPr/>
        </p:nvSpPr>
        <p:spPr>
          <a:xfrm>
            <a:off x="3066637" y="3414712"/>
            <a:ext cx="169255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Preprocessing</a:t>
            </a:r>
            <a:endParaRPr/>
          </a:p>
        </p:txBody>
      </p:sp>
      <p:sp>
        <p:nvSpPr>
          <p:cNvPr id="809" name="Google Shape;809;p51"/>
          <p:cNvSpPr txBox="1"/>
          <p:nvPr/>
        </p:nvSpPr>
        <p:spPr>
          <a:xfrm>
            <a:off x="3106935" y="3681412"/>
            <a:ext cx="161195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Deduplicating, removing NaNs, and splitting arrays.</a:t>
            </a:r>
            <a:endParaRPr/>
          </a:p>
        </p:txBody>
      </p:sp>
      <p:pic>
        <p:nvPicPr>
          <p:cNvPr descr="image.png" id="810" name="Google Shape;810;p5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063825" y="3630662"/>
            <a:ext cx="11430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51"/>
          <p:cNvSpPr txBox="1"/>
          <p:nvPr/>
        </p:nvSpPr>
        <p:spPr>
          <a:xfrm>
            <a:off x="5249647" y="3414712"/>
            <a:ext cx="169255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Standard Scaling</a:t>
            </a:r>
            <a:endParaRPr/>
          </a:p>
        </p:txBody>
      </p:sp>
      <p:sp>
        <p:nvSpPr>
          <p:cNvPr id="812" name="Google Shape;812;p51"/>
          <p:cNvSpPr txBox="1"/>
          <p:nvPr/>
        </p:nvSpPr>
        <p:spPr>
          <a:xfrm>
            <a:off x="5289946" y="3681412"/>
            <a:ext cx="161195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Applying the training scaler parameters to test inputs.</a:t>
            </a:r>
            <a:endParaRPr/>
          </a:p>
        </p:txBody>
      </p:sp>
      <p:pic>
        <p:nvPicPr>
          <p:cNvPr descr="image.png" id="813" name="Google Shape;813;p5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246836" y="3630662"/>
            <a:ext cx="11430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51"/>
          <p:cNvSpPr txBox="1"/>
          <p:nvPr/>
        </p:nvSpPr>
        <p:spPr>
          <a:xfrm>
            <a:off x="7432658" y="3414712"/>
            <a:ext cx="169255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4. Model Inference</a:t>
            </a:r>
            <a:endParaRPr/>
          </a:p>
        </p:txBody>
      </p:sp>
      <p:sp>
        <p:nvSpPr>
          <p:cNvPr id="815" name="Google Shape;815;p51"/>
          <p:cNvSpPr txBox="1"/>
          <p:nvPr/>
        </p:nvSpPr>
        <p:spPr>
          <a:xfrm>
            <a:off x="7472957" y="3681412"/>
            <a:ext cx="161195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Loading the H5 model file to generate binary probability.</a:t>
            </a:r>
            <a:endParaRPr/>
          </a:p>
        </p:txBody>
      </p:sp>
      <p:sp>
        <p:nvSpPr>
          <p:cNvPr id="816" name="Google Shape;816;p51"/>
          <p:cNvSpPr txBox="1"/>
          <p:nvPr/>
        </p:nvSpPr>
        <p:spPr>
          <a:xfrm>
            <a:off x="9615669" y="3414712"/>
            <a:ext cx="169255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5. Live Dashboard</a:t>
            </a:r>
            <a:endParaRPr/>
          </a:p>
        </p:txBody>
      </p:sp>
      <p:sp>
        <p:nvSpPr>
          <p:cNvPr id="817" name="Google Shape;817;p51"/>
          <p:cNvSpPr txBox="1"/>
          <p:nvPr/>
        </p:nvSpPr>
        <p:spPr>
          <a:xfrm>
            <a:off x="9655968" y="3681412"/>
            <a:ext cx="161195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Displaying results and metrics in a Flask web UI.</a:t>
            </a:r>
            <a:endParaRPr/>
          </a:p>
        </p:txBody>
      </p:sp>
      <p:sp>
        <p:nvSpPr>
          <p:cNvPr id="818" name="Google Shape;818;p51"/>
          <p:cNvSpPr txBox="1"/>
          <p:nvPr/>
        </p:nvSpPr>
        <p:spPr>
          <a:xfrm>
            <a:off x="1143000" y="485775"/>
            <a:ext cx="107913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Five-Step Runtime Pipeline</a:t>
            </a:r>
            <a:endParaRPr/>
          </a:p>
        </p:txBody>
      </p:sp>
      <p:sp>
        <p:nvSpPr>
          <p:cNvPr id="819" name="Google Shape;819;p51"/>
          <p:cNvSpPr/>
          <p:nvPr/>
        </p:nvSpPr>
        <p:spPr>
          <a:xfrm>
            <a:off x="771525" y="1000125"/>
            <a:ext cx="10648950" cy="190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24" name="Google Shape;82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25" name="Google Shape;825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850058"/>
            <a:ext cx="5133975" cy="17389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26" name="Google Shape;826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831008"/>
            <a:ext cx="5133975" cy="17770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27" name="Google Shape;827;p5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590550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28" name="Google Shape;828;p52"/>
          <p:cNvSpPr txBox="1"/>
          <p:nvPr/>
        </p:nvSpPr>
        <p:spPr>
          <a:xfrm>
            <a:off x="1009650" y="3088183"/>
            <a:ext cx="489061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Binary Output Threshold (0.5)</a:t>
            </a:r>
            <a:endParaRPr/>
          </a:p>
        </p:txBody>
      </p:sp>
      <p:sp>
        <p:nvSpPr>
          <p:cNvPr id="829" name="Google Shape;829;p52"/>
          <p:cNvSpPr txBox="1"/>
          <p:nvPr/>
        </p:nvSpPr>
        <p:spPr>
          <a:xfrm>
            <a:off x="1009650" y="3421558"/>
            <a:ext cx="465772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final sigmoid output represents a probability range. We map the classification score as follows:</a:t>
            </a:r>
            <a:endParaRPr/>
          </a:p>
        </p:txBody>
      </p:sp>
      <p:sp>
        <p:nvSpPr>
          <p:cNvPr id="830" name="Google Shape;830;p52"/>
          <p:cNvSpPr txBox="1"/>
          <p:nvPr/>
        </p:nvSpPr>
        <p:spPr>
          <a:xfrm>
            <a:off x="1009650" y="3924300"/>
            <a:ext cx="46577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 Output ≥ 0.5: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Classified as ATTACK.</a:t>
            </a:r>
            <a:endParaRPr/>
          </a:p>
        </p:txBody>
      </p:sp>
      <p:sp>
        <p:nvSpPr>
          <p:cNvPr id="831" name="Google Shape;831;p52"/>
          <p:cNvSpPr txBox="1"/>
          <p:nvPr/>
        </p:nvSpPr>
        <p:spPr>
          <a:xfrm>
            <a:off x="1009650" y="4137570"/>
            <a:ext cx="46577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 Output &lt; 0.5: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Classified as BENIGN.</a:t>
            </a:r>
            <a:endParaRPr/>
          </a:p>
        </p:txBody>
      </p:sp>
      <p:sp>
        <p:nvSpPr>
          <p:cNvPr id="832" name="Google Shape;832;p52"/>
          <p:cNvSpPr txBox="1"/>
          <p:nvPr/>
        </p:nvSpPr>
        <p:spPr>
          <a:xfrm>
            <a:off x="6524625" y="3069133"/>
            <a:ext cx="489061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Confidence Mapping Formulas</a:t>
            </a:r>
            <a:endParaRPr/>
          </a:p>
        </p:txBody>
      </p:sp>
      <p:sp>
        <p:nvSpPr>
          <p:cNvPr id="833" name="Google Shape;833;p52"/>
          <p:cNvSpPr txBox="1"/>
          <p:nvPr/>
        </p:nvSpPr>
        <p:spPr>
          <a:xfrm>
            <a:off x="6524625" y="3402508"/>
            <a:ext cx="465772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To ensure the dashboard displays a clear percentage confidence score to security analysts:</a:t>
            </a:r>
            <a:endParaRPr/>
          </a:p>
        </p:txBody>
      </p:sp>
      <p:sp>
        <p:nvSpPr>
          <p:cNvPr id="834" name="Google Shape;834;p52"/>
          <p:cNvSpPr txBox="1"/>
          <p:nvPr/>
        </p:nvSpPr>
        <p:spPr>
          <a:xfrm>
            <a:off x="6524625" y="3924300"/>
            <a:ext cx="4657725" cy="222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 For Attack predictions: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Score * 100</a:t>
            </a:r>
            <a:endParaRPr/>
          </a:p>
        </p:txBody>
      </p:sp>
      <p:sp>
        <p:nvSpPr>
          <p:cNvPr id="835" name="Google Shape;835;p52"/>
          <p:cNvSpPr txBox="1"/>
          <p:nvPr/>
        </p:nvSpPr>
        <p:spPr>
          <a:xfrm>
            <a:off x="6524625" y="4147095"/>
            <a:ext cx="4657725" cy="222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 For Benign predictions:</a:t>
            </a: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(1 - Score) * 100</a:t>
            </a:r>
            <a:endParaRPr/>
          </a:p>
        </p:txBody>
      </p:sp>
      <p:sp>
        <p:nvSpPr>
          <p:cNvPr id="836" name="Google Shape;836;p52"/>
          <p:cNvSpPr txBox="1"/>
          <p:nvPr/>
        </p:nvSpPr>
        <p:spPr>
          <a:xfrm>
            <a:off x="1057275" y="485775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Prediction &amp; Confidence Logic</a:t>
            </a:r>
            <a:endParaRPr/>
          </a:p>
        </p:txBody>
      </p:sp>
      <p:sp>
        <p:nvSpPr>
          <p:cNvPr id="837" name="Google Shape;837;p52"/>
          <p:cNvSpPr/>
          <p:nvPr/>
        </p:nvSpPr>
        <p:spPr>
          <a:xfrm>
            <a:off x="771525" y="1000125"/>
            <a:ext cx="10648950" cy="190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2" name="Google Shape;842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43" name="Google Shape;843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788443"/>
            <a:ext cx="5133975" cy="18621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44" name="Google Shape;844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590550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45" name="Google Shape;845;p53"/>
          <p:cNvSpPr txBox="1"/>
          <p:nvPr/>
        </p:nvSpPr>
        <p:spPr>
          <a:xfrm>
            <a:off x="771525" y="2735907"/>
            <a:ext cx="539067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Real-Time Security Event Logging</a:t>
            </a:r>
            <a:endParaRPr/>
          </a:p>
        </p:txBody>
      </p:sp>
      <p:sp>
        <p:nvSpPr>
          <p:cNvPr id="846" name="Google Shape;846;p53"/>
          <p:cNvSpPr txBox="1"/>
          <p:nvPr/>
        </p:nvSpPr>
        <p:spPr>
          <a:xfrm>
            <a:off x="771525" y="3012132"/>
            <a:ext cx="513397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frontend interface converts complex model outputs into an actionable console for SOC administrators.</a:t>
            </a:r>
            <a:endParaRPr/>
          </a:p>
        </p:txBody>
      </p:sp>
      <p:pic>
        <p:nvPicPr>
          <p:cNvPr descr="image.png" id="847" name="Google Shape;847;p5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24625" y="3026568"/>
            <a:ext cx="46577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53"/>
          <p:cNvSpPr txBox="1"/>
          <p:nvPr/>
        </p:nvSpPr>
        <p:spPr>
          <a:xfrm>
            <a:off x="6524625" y="3521868"/>
            <a:ext cx="489061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Demonstration Transparency</a:t>
            </a:r>
            <a:endParaRPr/>
          </a:p>
        </p:txBody>
      </p:sp>
      <p:sp>
        <p:nvSpPr>
          <p:cNvPr id="849" name="Google Shape;849;p53"/>
          <p:cNvSpPr txBox="1"/>
          <p:nvPr/>
        </p:nvSpPr>
        <p:spPr>
          <a:xfrm>
            <a:off x="6524625" y="3855243"/>
            <a:ext cx="4657725" cy="557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dashboard is fully runnable locally, connecting the exported Keras network weights file to the active browser views via a clean Flask backend routing structure.</a:t>
            </a:r>
            <a:endParaRPr/>
          </a:p>
        </p:txBody>
      </p:sp>
      <p:sp>
        <p:nvSpPr>
          <p:cNvPr id="850" name="Google Shape;850;p53"/>
          <p:cNvSpPr txBox="1"/>
          <p:nvPr/>
        </p:nvSpPr>
        <p:spPr>
          <a:xfrm>
            <a:off x="1000125" y="3552973"/>
            <a:ext cx="490537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Tracks </a:t>
            </a: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Total Alert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triggers dynamically.</a:t>
            </a:r>
            <a:endParaRPr/>
          </a:p>
        </p:txBody>
      </p:sp>
      <p:sp>
        <p:nvSpPr>
          <p:cNvPr id="851" name="Google Shape;851;p53"/>
          <p:cNvSpPr txBox="1"/>
          <p:nvPr/>
        </p:nvSpPr>
        <p:spPr>
          <a:xfrm>
            <a:off x="1000125" y="3840509"/>
            <a:ext cx="490537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Identifies anomalous traffic with clear color-coded statuses.</a:t>
            </a:r>
            <a:endParaRPr/>
          </a:p>
        </p:txBody>
      </p:sp>
      <p:sp>
        <p:nvSpPr>
          <p:cNvPr id="852" name="Google Shape;852;p53"/>
          <p:cNvSpPr txBox="1"/>
          <p:nvPr/>
        </p:nvSpPr>
        <p:spPr>
          <a:xfrm>
            <a:off x="1000125" y="4128045"/>
            <a:ext cx="490537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Displays source/destination IP tags derived from sample metadata.</a:t>
            </a:r>
            <a:endParaRPr/>
          </a:p>
        </p:txBody>
      </p:sp>
      <p:sp>
        <p:nvSpPr>
          <p:cNvPr id="853" name="Google Shape;853;p53"/>
          <p:cNvSpPr txBox="1"/>
          <p:nvPr/>
        </p:nvSpPr>
        <p:spPr>
          <a:xfrm>
            <a:off x="1000125" y="4415581"/>
            <a:ext cx="490537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Monitors model confidence levels for every transaction.</a:t>
            </a:r>
            <a:endParaRPr/>
          </a:p>
        </p:txBody>
      </p:sp>
      <p:sp>
        <p:nvSpPr>
          <p:cNvPr id="854" name="Google Shape;854;p53"/>
          <p:cNvSpPr txBox="1"/>
          <p:nvPr/>
        </p:nvSpPr>
        <p:spPr>
          <a:xfrm>
            <a:off x="1143000" y="485775"/>
            <a:ext cx="107913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Flask Dashboard Interface</a:t>
            </a:r>
            <a:endParaRPr/>
          </a:p>
        </p:txBody>
      </p:sp>
      <p:sp>
        <p:nvSpPr>
          <p:cNvPr id="855" name="Google Shape;855;p53"/>
          <p:cNvSpPr/>
          <p:nvPr/>
        </p:nvSpPr>
        <p:spPr>
          <a:xfrm>
            <a:off x="771525" y="1000125"/>
            <a:ext cx="10648950" cy="190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56" name="Google Shape;856;p5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3591073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7" name="Google Shape;857;p5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3878609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8" name="Google Shape;858;p5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4166145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9" name="Google Shape;859;p5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4453681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0" name="Google Shape;860;p5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543513" y="4668135"/>
            <a:ext cx="9104974" cy="144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5" name="Google Shape;865;p54"/>
          <p:cNvGrpSpPr/>
          <p:nvPr/>
        </p:nvGrpSpPr>
        <p:grpSpPr>
          <a:xfrm>
            <a:off x="571500" y="381000"/>
            <a:ext cx="11049150" cy="543075"/>
            <a:chOff x="0" y="0"/>
            <a:chExt cx="11049150" cy="543075"/>
          </a:xfrm>
        </p:grpSpPr>
        <p:sp>
          <p:nvSpPr>
            <p:cNvPr id="866" name="Google Shape;866;p54"/>
            <p:cNvSpPr txBox="1"/>
            <p:nvPr/>
          </p:nvSpPr>
          <p:spPr>
            <a:xfrm>
              <a:off x="0" y="350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dashboard</a:t>
              </a:r>
              <a:endParaRPr sz="24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867" name="Google Shape;867;p54"/>
            <p:cNvSpPr txBox="1"/>
            <p:nvPr/>
          </p:nvSpPr>
          <p:spPr>
            <a:xfrm>
              <a:off x="476250" y="0"/>
              <a:ext cx="10572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Live Detection &amp; Dashboard Interface</a:t>
              </a:r>
              <a:endParaRPr b="1" sz="24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868" name="Google Shape;868;p54"/>
            <p:cNvSpPr/>
            <p:nvPr/>
          </p:nvSpPr>
          <p:spPr>
            <a:xfrm>
              <a:off x="0" y="523875"/>
              <a:ext cx="11049000" cy="19200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9" name="Google Shape;869;p54"/>
          <p:cNvGrpSpPr/>
          <p:nvPr/>
        </p:nvGrpSpPr>
        <p:grpSpPr>
          <a:xfrm>
            <a:off x="571500" y="1238250"/>
            <a:ext cx="11049000" cy="1143000"/>
            <a:chOff x="0" y="0"/>
            <a:chExt cx="11049000" cy="1143000"/>
          </a:xfrm>
        </p:grpSpPr>
        <p:grpSp>
          <p:nvGrpSpPr>
            <p:cNvPr id="870" name="Google Shape;870;p54"/>
            <p:cNvGrpSpPr/>
            <p:nvPr/>
          </p:nvGrpSpPr>
          <p:grpSpPr>
            <a:xfrm>
              <a:off x="0" y="0"/>
              <a:ext cx="3429000" cy="1143000"/>
              <a:chOff x="0" y="0"/>
              <a:chExt cx="3429000" cy="1143000"/>
            </a:xfrm>
          </p:grpSpPr>
          <p:sp>
            <p:nvSpPr>
              <p:cNvPr id="871" name="Google Shape;871;p54"/>
              <p:cNvSpPr/>
              <p:nvPr/>
            </p:nvSpPr>
            <p:spPr>
              <a:xfrm>
                <a:off x="0" y="0"/>
                <a:ext cx="3429000" cy="1143000"/>
              </a:xfrm>
              <a:prstGeom prst="roundRect">
                <a:avLst>
                  <a:gd fmla="val 10000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2" name="Google Shape;872;p54"/>
              <p:cNvSpPr txBox="1"/>
              <p:nvPr/>
            </p:nvSpPr>
            <p:spPr>
              <a:xfrm>
                <a:off x="190500" y="219710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2563E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settings_input_component</a:t>
                </a:r>
                <a:endParaRPr sz="20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873" name="Google Shape;873;p54"/>
              <p:cNvSpPr txBox="1"/>
              <p:nvPr/>
            </p:nvSpPr>
            <p:spPr>
              <a:xfrm>
                <a:off x="666750" y="190500"/>
                <a:ext cx="25719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Stream Parsing</a:t>
                </a:r>
                <a:endParaRPr b="1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Processes sequential packet headers to simulate real-time live input flows.</a:t>
                </a:r>
                <a:endParaRPr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874" name="Google Shape;874;p54"/>
            <p:cNvGrpSpPr/>
            <p:nvPr/>
          </p:nvGrpSpPr>
          <p:grpSpPr>
            <a:xfrm>
              <a:off x="3810000" y="0"/>
              <a:ext cx="3429000" cy="1143000"/>
              <a:chOff x="0" y="0"/>
              <a:chExt cx="3429000" cy="1143000"/>
            </a:xfrm>
          </p:grpSpPr>
          <p:sp>
            <p:nvSpPr>
              <p:cNvPr id="875" name="Google Shape;875;p54"/>
              <p:cNvSpPr/>
              <p:nvPr/>
            </p:nvSpPr>
            <p:spPr>
              <a:xfrm>
                <a:off x="0" y="0"/>
                <a:ext cx="3429000" cy="1143000"/>
              </a:xfrm>
              <a:prstGeom prst="roundRect">
                <a:avLst>
                  <a:gd fmla="val 10000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6" name="Google Shape;876;p54"/>
              <p:cNvSpPr txBox="1"/>
              <p:nvPr/>
            </p:nvSpPr>
            <p:spPr>
              <a:xfrm>
                <a:off x="190500" y="219710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2563E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palette</a:t>
                </a:r>
                <a:endParaRPr sz="20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877" name="Google Shape;877;p54"/>
              <p:cNvSpPr txBox="1"/>
              <p:nvPr/>
            </p:nvSpPr>
            <p:spPr>
              <a:xfrm>
                <a:off x="666750" y="190500"/>
                <a:ext cx="25719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Color Classification</a:t>
                </a:r>
                <a:endParaRPr b="1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Isolates </a:t>
                </a:r>
                <a:r>
                  <a:rPr b="0" lang="en-US" sz="1100">
                    <a:solidFill>
                      <a:srgbClr val="EF4444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ATTACK</a:t>
                </a:r>
                <a:r>
                  <a:rPr lang="en-US" sz="11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 malicious activity from normal </a:t>
                </a:r>
                <a:r>
                  <a:rPr b="0" lang="en-US" sz="1100">
                    <a:solidFill>
                      <a:srgbClr val="22C55E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BENIGN</a:t>
                </a:r>
                <a:r>
                  <a:rPr lang="en-US" sz="11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 flows.</a:t>
                </a:r>
                <a:endParaRPr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878" name="Google Shape;878;p54"/>
            <p:cNvGrpSpPr/>
            <p:nvPr/>
          </p:nvGrpSpPr>
          <p:grpSpPr>
            <a:xfrm>
              <a:off x="7620000" y="0"/>
              <a:ext cx="3429000" cy="1143000"/>
              <a:chOff x="0" y="0"/>
              <a:chExt cx="3429000" cy="1143000"/>
            </a:xfrm>
          </p:grpSpPr>
          <p:sp>
            <p:nvSpPr>
              <p:cNvPr id="879" name="Google Shape;879;p54"/>
              <p:cNvSpPr/>
              <p:nvPr/>
            </p:nvSpPr>
            <p:spPr>
              <a:xfrm>
                <a:off x="0" y="0"/>
                <a:ext cx="3429000" cy="1143000"/>
              </a:xfrm>
              <a:prstGeom prst="roundRect">
                <a:avLst>
                  <a:gd fmla="val 10000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0" name="Google Shape;880;p54"/>
              <p:cNvSpPr txBox="1"/>
              <p:nvPr/>
            </p:nvSpPr>
            <p:spPr>
              <a:xfrm>
                <a:off x="190500" y="219710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2563E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analytics</a:t>
                </a:r>
                <a:endParaRPr sz="20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881" name="Google Shape;881;p54"/>
              <p:cNvSpPr txBox="1"/>
              <p:nvPr/>
            </p:nvSpPr>
            <p:spPr>
              <a:xfrm>
                <a:off x="666750" y="190500"/>
                <a:ext cx="25719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100">
                    <a:solidFill>
                      <a:srgbClr val="0F172A"/>
                    </a:solidFill>
                    <a:latin typeface="Inter"/>
                    <a:ea typeface="Inter"/>
                    <a:cs typeface="Inter"/>
                    <a:sym typeface="Inter"/>
                  </a:rPr>
                  <a:t>Telemetry Counter</a:t>
                </a:r>
                <a:endParaRPr b="1" sz="110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-US" sz="11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Running dashboard events track alerts (showing </a:t>
                </a:r>
                <a:r>
                  <a:rPr b="0" lang="en-US" sz="1100">
                    <a:solidFill>
                      <a:srgbClr val="EF4444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82 alerts</a:t>
                </a:r>
                <a:r>
                  <a:rPr lang="en-US" sz="1100">
                    <a:solidFill>
                      <a:srgbClr val="475569"/>
                    </a:solidFill>
                    <a:latin typeface="Inter"/>
                    <a:ea typeface="Inter"/>
                    <a:cs typeface="Inter"/>
                    <a:sym typeface="Inter"/>
                  </a:rPr>
                  <a:t>) dynamically.</a:t>
                </a:r>
                <a:endParaRPr sz="110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882" name="Google Shape;882;p54"/>
          <p:cNvGrpSpPr/>
          <p:nvPr/>
        </p:nvGrpSpPr>
        <p:grpSpPr>
          <a:xfrm>
            <a:off x="571500" y="2571750"/>
            <a:ext cx="11049000" cy="3429000"/>
            <a:chOff x="0" y="0"/>
            <a:chExt cx="11049000" cy="3429000"/>
          </a:xfrm>
        </p:grpSpPr>
        <p:sp>
          <p:nvSpPr>
            <p:cNvPr id="883" name="Google Shape;883;p54"/>
            <p:cNvSpPr/>
            <p:nvPr/>
          </p:nvSpPr>
          <p:spPr>
            <a:xfrm>
              <a:off x="0" y="0"/>
              <a:ext cx="11049000" cy="3429000"/>
            </a:xfrm>
            <a:prstGeom prst="roundRect">
              <a:avLst>
                <a:gd fmla="val 3333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84" name="Google Shape;884;p54"/>
            <p:cNvPicPr preferRelativeResize="0"/>
            <p:nvPr/>
          </p:nvPicPr>
          <p:blipFill rotWithShape="1">
            <a:blip r:embed="rId4">
              <a:alphaModFix/>
            </a:blip>
            <a:srcRect b="12552" l="0" r="0" t="12552"/>
            <a:stretch/>
          </p:blipFill>
          <p:spPr>
            <a:xfrm>
              <a:off x="0" y="0"/>
              <a:ext cx="11049000" cy="3429000"/>
            </a:xfrm>
            <a:prstGeom prst="roundRect">
              <a:avLst>
                <a:gd fmla="val 3333" name="adj"/>
              </a:avLst>
            </a:prstGeom>
            <a:noFill/>
            <a:ln>
              <a:noFill/>
            </a:ln>
          </p:spPr>
        </p:pic>
      </p:grpSp>
      <p:grpSp>
        <p:nvGrpSpPr>
          <p:cNvPr id="885" name="Google Shape;885;p54"/>
          <p:cNvGrpSpPr/>
          <p:nvPr/>
        </p:nvGrpSpPr>
        <p:grpSpPr>
          <a:xfrm>
            <a:off x="571500" y="6286500"/>
            <a:ext cx="11049000" cy="285900"/>
            <a:chOff x="0" y="0"/>
            <a:chExt cx="11049000" cy="285900"/>
          </a:xfrm>
        </p:grpSpPr>
        <p:sp>
          <p:nvSpPr>
            <p:cNvPr id="886" name="Google Shape;886;p54"/>
            <p:cNvSpPr txBox="1"/>
            <p:nvPr/>
          </p:nvSpPr>
          <p:spPr>
            <a:xfrm>
              <a:off x="0" y="0"/>
              <a:ext cx="4762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B.Sc. Final Year Project — Live Demonstration Module</a:t>
              </a:r>
              <a:endParaRPr sz="9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87" name="Google Shape;887;p54"/>
            <p:cNvSpPr txBox="1"/>
            <p:nvPr/>
          </p:nvSpPr>
          <p:spPr>
            <a:xfrm>
              <a:off x="9525000" y="0"/>
              <a:ext cx="1524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2563EB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Active Execution State</a:t>
              </a:r>
              <a:endParaRPr b="0" sz="900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92" name="Google Shape;892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3" name="Google Shape;893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1329484"/>
            <a:ext cx="5133974" cy="17674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4" name="Google Shape;894;p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336621"/>
            <a:ext cx="5133974" cy="17579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5" name="Google Shape;895;p5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590550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96" name="Google Shape;896;p55"/>
          <p:cNvSpPr txBox="1"/>
          <p:nvPr/>
        </p:nvSpPr>
        <p:spPr>
          <a:xfrm>
            <a:off x="893213" y="1496646"/>
            <a:ext cx="4890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ips_live.py Pipeline</a:t>
            </a:r>
            <a:endParaRPr/>
          </a:p>
        </p:txBody>
      </p:sp>
      <p:sp>
        <p:nvSpPr>
          <p:cNvPr id="897" name="Google Shape;897;p55"/>
          <p:cNvSpPr txBox="1"/>
          <p:nvPr/>
        </p:nvSpPr>
        <p:spPr>
          <a:xfrm>
            <a:off x="893225" y="1829996"/>
            <a:ext cx="4657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Simulates active production traffic by reading directly from dl_x_test_final.csv.</a:t>
            </a:r>
            <a:endParaRPr/>
          </a:p>
        </p:txBody>
      </p:sp>
      <p:sp>
        <p:nvSpPr>
          <p:cNvPr id="898" name="Google Shape;898;p55"/>
          <p:cNvSpPr txBox="1"/>
          <p:nvPr/>
        </p:nvSpPr>
        <p:spPr>
          <a:xfrm>
            <a:off x="893263" y="2375462"/>
            <a:ext cx="4657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Fires a continuous, sequential loop of formatted requests containing all 68 required network flow features.</a:t>
            </a:r>
            <a:endParaRPr/>
          </a:p>
        </p:txBody>
      </p:sp>
      <p:sp>
        <p:nvSpPr>
          <p:cNvPr id="899" name="Google Shape;899;p55"/>
          <p:cNvSpPr txBox="1"/>
          <p:nvPr/>
        </p:nvSpPr>
        <p:spPr>
          <a:xfrm>
            <a:off x="6408188" y="1472020"/>
            <a:ext cx="4890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Validation Integrity</a:t>
            </a:r>
            <a:endParaRPr/>
          </a:p>
        </p:txBody>
      </p:sp>
      <p:sp>
        <p:nvSpPr>
          <p:cNvPr id="900" name="Google Shape;900;p55"/>
          <p:cNvSpPr txBox="1"/>
          <p:nvPr/>
        </p:nvSpPr>
        <p:spPr>
          <a:xfrm>
            <a:off x="6408200" y="1826733"/>
            <a:ext cx="4657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Avoids the standard testing trap of feeding synthetic, random variables to the interface.</a:t>
            </a:r>
            <a:endParaRPr/>
          </a:p>
        </p:txBody>
      </p:sp>
      <p:sp>
        <p:nvSpPr>
          <p:cNvPr id="901" name="Google Shape;901;p55"/>
          <p:cNvSpPr txBox="1"/>
          <p:nvPr/>
        </p:nvSpPr>
        <p:spPr>
          <a:xfrm>
            <a:off x="6408238" y="2372175"/>
            <a:ext cx="46578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Verifies that the deployed model performs inference on real benchmark traffic distributions.</a:t>
            </a:r>
            <a:endParaRPr/>
          </a:p>
        </p:txBody>
      </p:sp>
      <p:sp>
        <p:nvSpPr>
          <p:cNvPr id="902" name="Google Shape;902;p55"/>
          <p:cNvSpPr txBox="1"/>
          <p:nvPr/>
        </p:nvSpPr>
        <p:spPr>
          <a:xfrm>
            <a:off x="1143000" y="485775"/>
            <a:ext cx="107913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Live Sender Stream Simulation</a:t>
            </a:r>
            <a:endParaRPr/>
          </a:p>
        </p:txBody>
      </p:sp>
      <p:sp>
        <p:nvSpPr>
          <p:cNvPr id="903" name="Google Shape;903;p55"/>
          <p:cNvSpPr/>
          <p:nvPr/>
        </p:nvSpPr>
        <p:spPr>
          <a:xfrm>
            <a:off x="771525" y="1000125"/>
            <a:ext cx="10648950" cy="190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4" name="Google Shape;904;p5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78525" y="3203825"/>
            <a:ext cx="7634949" cy="3375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09" name="Google Shape;909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0" name="Google Shape;910;p56"/>
          <p:cNvSpPr/>
          <p:nvPr/>
        </p:nvSpPr>
        <p:spPr>
          <a:xfrm>
            <a:off x="5619750" y="2626072"/>
            <a:ext cx="9525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56"/>
          <p:cNvSpPr txBox="1"/>
          <p:nvPr/>
        </p:nvSpPr>
        <p:spPr>
          <a:xfrm>
            <a:off x="887849" y="2902297"/>
            <a:ext cx="10416301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Section 8: Conclusion &amp; Recommendations</a:t>
            </a:r>
            <a:endParaRPr/>
          </a:p>
        </p:txBody>
      </p:sp>
      <p:sp>
        <p:nvSpPr>
          <p:cNvPr id="912" name="Google Shape;912;p56"/>
          <p:cNvSpPr txBox="1"/>
          <p:nvPr/>
        </p:nvSpPr>
        <p:spPr>
          <a:xfrm>
            <a:off x="2762250" y="3730972"/>
            <a:ext cx="66675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Summarizing key system achievements, honest prototype boundaries, and future enterprise development paths.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7" name="Google Shape;917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8" name="Google Shape;918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774156"/>
            <a:ext cx="3422600" cy="18907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9" name="Google Shape;919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4625" y="2774156"/>
            <a:ext cx="3422600" cy="18907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0" name="Google Shape;920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97725" y="2774156"/>
            <a:ext cx="3422749" cy="18907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1" name="Google Shape;921;p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59055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22" name="Google Shape;922;p57"/>
          <p:cNvSpPr txBox="1"/>
          <p:nvPr/>
        </p:nvSpPr>
        <p:spPr>
          <a:xfrm>
            <a:off x="1009650" y="3450431"/>
            <a:ext cx="309366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96.45% Baseline</a:t>
            </a:r>
            <a:endParaRPr/>
          </a:p>
        </p:txBody>
      </p:sp>
      <p:sp>
        <p:nvSpPr>
          <p:cNvPr id="923" name="Google Shape;923;p57"/>
          <p:cNvSpPr txBox="1"/>
          <p:nvPr/>
        </p:nvSpPr>
        <p:spPr>
          <a:xfrm>
            <a:off x="1009650" y="3783806"/>
            <a:ext cx="294635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Achieved outstanding binary classification performance on high-dimensional benchmark datasets.</a:t>
            </a:r>
            <a:endParaRPr/>
          </a:p>
        </p:txBody>
      </p:sp>
      <p:sp>
        <p:nvSpPr>
          <p:cNvPr id="924" name="Google Shape;924;p57"/>
          <p:cNvSpPr txBox="1"/>
          <p:nvPr/>
        </p:nvSpPr>
        <p:spPr>
          <a:xfrm>
            <a:off x="4622750" y="3450431"/>
            <a:ext cx="309366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Consistent Scaling</a:t>
            </a:r>
            <a:endParaRPr/>
          </a:p>
        </p:txBody>
      </p:sp>
      <p:sp>
        <p:nvSpPr>
          <p:cNvPr id="925" name="Google Shape;925;p57"/>
          <p:cNvSpPr txBox="1"/>
          <p:nvPr/>
        </p:nvSpPr>
        <p:spPr>
          <a:xfrm>
            <a:off x="4622750" y="3783806"/>
            <a:ext cx="294635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Saved preprocessing model states (.pkl) to guarantee 100% mathematical integrity during inference.</a:t>
            </a:r>
            <a:endParaRPr/>
          </a:p>
        </p:txBody>
      </p:sp>
      <p:sp>
        <p:nvSpPr>
          <p:cNvPr id="926" name="Google Shape;926;p57"/>
          <p:cNvSpPr txBox="1"/>
          <p:nvPr/>
        </p:nvSpPr>
        <p:spPr>
          <a:xfrm>
            <a:off x="8235850" y="3450431"/>
            <a:ext cx="3093824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Integrated Software</a:t>
            </a:r>
            <a:endParaRPr/>
          </a:p>
        </p:txBody>
      </p:sp>
      <p:sp>
        <p:nvSpPr>
          <p:cNvPr id="927" name="Google Shape;927;p57"/>
          <p:cNvSpPr txBox="1"/>
          <p:nvPr/>
        </p:nvSpPr>
        <p:spPr>
          <a:xfrm>
            <a:off x="8235850" y="3783806"/>
            <a:ext cx="2946499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Successfully combined trained Keras weights with a real-time, browser-accessible Flask console.</a:t>
            </a:r>
            <a:endParaRPr/>
          </a:p>
        </p:txBody>
      </p:sp>
      <p:pic>
        <p:nvPicPr>
          <p:cNvPr descr="image.png" id="928" name="Google Shape;928;p5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9650" y="3040856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9" name="Google Shape;929;p5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22750" y="3040856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0" name="Google Shape;930;p5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35850" y="3040856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31" name="Google Shape;931;p57"/>
          <p:cNvSpPr txBox="1"/>
          <p:nvPr/>
        </p:nvSpPr>
        <p:spPr>
          <a:xfrm>
            <a:off x="1114425" y="485775"/>
            <a:ext cx="108213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Project Accomplishments</a:t>
            </a:r>
            <a:endParaRPr/>
          </a:p>
        </p:txBody>
      </p:sp>
      <p:sp>
        <p:nvSpPr>
          <p:cNvPr id="932" name="Google Shape;932;p57"/>
          <p:cNvSpPr/>
          <p:nvPr/>
        </p:nvSpPr>
        <p:spPr>
          <a:xfrm>
            <a:off x="771525" y="1000125"/>
            <a:ext cx="10648950" cy="190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57"/>
          <p:cNvSpPr txBox="1"/>
          <p:nvPr/>
        </p:nvSpPr>
        <p:spPr>
          <a:xfrm>
            <a:off x="771525" y="6477000"/>
            <a:ext cx="10648950" cy="133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Conclusion Slide 50 of 53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8" name="Google Shape;938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9" name="Google Shape;939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905125"/>
            <a:ext cx="5133975" cy="1628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0" name="Google Shape;940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590550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41" name="Google Shape;941;p58"/>
          <p:cNvSpPr txBox="1"/>
          <p:nvPr/>
        </p:nvSpPr>
        <p:spPr>
          <a:xfrm>
            <a:off x="771525" y="2706439"/>
            <a:ext cx="539067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Addressing Technical Boundaries</a:t>
            </a:r>
            <a:endParaRPr/>
          </a:p>
        </p:txBody>
      </p:sp>
      <p:sp>
        <p:nvSpPr>
          <p:cNvPr id="942" name="Google Shape;942;p58"/>
          <p:cNvSpPr txBox="1"/>
          <p:nvPr/>
        </p:nvSpPr>
        <p:spPr>
          <a:xfrm>
            <a:off x="771525" y="2982664"/>
            <a:ext cx="513397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As a graduation project, defining the boundaries of our current prototype is essential for academic transparency.</a:t>
            </a:r>
            <a:endParaRPr/>
          </a:p>
        </p:txBody>
      </p:sp>
      <p:sp>
        <p:nvSpPr>
          <p:cNvPr id="943" name="Google Shape;943;p58"/>
          <p:cNvSpPr txBox="1"/>
          <p:nvPr/>
        </p:nvSpPr>
        <p:spPr>
          <a:xfrm>
            <a:off x="6524625" y="3143250"/>
            <a:ext cx="489061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Why This Scope Matters</a:t>
            </a:r>
            <a:endParaRPr/>
          </a:p>
        </p:txBody>
      </p:sp>
      <p:sp>
        <p:nvSpPr>
          <p:cNvPr id="944" name="Google Shape;944;p58"/>
          <p:cNvSpPr txBox="1"/>
          <p:nvPr/>
        </p:nvSpPr>
        <p:spPr>
          <a:xfrm>
            <a:off x="6524625" y="3476625"/>
            <a:ext cx="46577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Intrusion prevention requires exceptionally high confidence and low false-negative ratios before executing firewall modifications.</a:t>
            </a:r>
            <a:endParaRPr/>
          </a:p>
        </p:txBody>
      </p:sp>
      <p:sp>
        <p:nvSpPr>
          <p:cNvPr id="945" name="Google Shape;945;p58"/>
          <p:cNvSpPr txBox="1"/>
          <p:nvPr/>
        </p:nvSpPr>
        <p:spPr>
          <a:xfrm>
            <a:off x="6524625" y="3924300"/>
            <a:ext cx="46577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Validating the detection and scaling pipeline represents the necessary first stage of system architecture.</a:t>
            </a:r>
            <a:endParaRPr/>
          </a:p>
        </p:txBody>
      </p:sp>
      <p:sp>
        <p:nvSpPr>
          <p:cNvPr id="946" name="Google Shape;946;p58"/>
          <p:cNvSpPr txBox="1"/>
          <p:nvPr/>
        </p:nvSpPr>
        <p:spPr>
          <a:xfrm>
            <a:off x="1000125" y="3523505"/>
            <a:ext cx="490537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Simulation Basis: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Relies on CSV streams rather than active inline raw packet sniffs.</a:t>
            </a:r>
            <a:endParaRPr/>
          </a:p>
        </p:txBody>
      </p:sp>
      <p:sp>
        <p:nvSpPr>
          <p:cNvPr id="947" name="Google Shape;947;p58"/>
          <p:cNvSpPr txBox="1"/>
          <p:nvPr/>
        </p:nvSpPr>
        <p:spPr>
          <a:xfrm>
            <a:off x="1000125" y="3811041"/>
            <a:ext cx="4905375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Binary Core: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Deployed model classifies benign vs. attack; it does not perform native multi-class isolation.</a:t>
            </a:r>
            <a:endParaRPr/>
          </a:p>
        </p:txBody>
      </p:sp>
      <p:sp>
        <p:nvSpPr>
          <p:cNvPr id="948" name="Google Shape;948;p58"/>
          <p:cNvSpPr txBox="1"/>
          <p:nvPr/>
        </p:nvSpPr>
        <p:spPr>
          <a:xfrm>
            <a:off x="1000125" y="4271813"/>
            <a:ext cx="4905375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No Blocking Logic:</a:t>
            </a: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Focuses purely on detection and alert visualizations; inline prevention is left as future work.</a:t>
            </a:r>
            <a:endParaRPr/>
          </a:p>
        </p:txBody>
      </p:sp>
      <p:sp>
        <p:nvSpPr>
          <p:cNvPr id="949" name="Google Shape;949;p58"/>
          <p:cNvSpPr txBox="1"/>
          <p:nvPr/>
        </p:nvSpPr>
        <p:spPr>
          <a:xfrm>
            <a:off x="1171575" y="485775"/>
            <a:ext cx="1076134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Honest Prototype Limitations</a:t>
            </a:r>
            <a:endParaRPr/>
          </a:p>
        </p:txBody>
      </p:sp>
      <p:sp>
        <p:nvSpPr>
          <p:cNvPr id="950" name="Google Shape;950;p58"/>
          <p:cNvSpPr/>
          <p:nvPr/>
        </p:nvSpPr>
        <p:spPr>
          <a:xfrm>
            <a:off x="771525" y="1000125"/>
            <a:ext cx="10648950" cy="190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58"/>
          <p:cNvSpPr txBox="1"/>
          <p:nvPr/>
        </p:nvSpPr>
        <p:spPr>
          <a:xfrm>
            <a:off x="771525" y="6477000"/>
            <a:ext cx="10648950" cy="133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System Boundaries Slide 51 of 53</a:t>
            </a:r>
            <a:endParaRPr/>
          </a:p>
        </p:txBody>
      </p:sp>
      <p:pic>
        <p:nvPicPr>
          <p:cNvPr descr="image.png" id="952" name="Google Shape;952;p5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3561605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3" name="Google Shape;953;p5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3849141"/>
            <a:ext cx="10477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4" name="Google Shape;954;p5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4309913"/>
            <a:ext cx="104775" cy="12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9" name="Google Shape;959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0" name="Google Shape;960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5562600"/>
            <a:ext cx="10648950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1" name="Google Shape;961;p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34525" y="247650"/>
            <a:ext cx="18859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962" name="Google Shape;962;p59"/>
          <p:cNvSpPr txBox="1"/>
          <p:nvPr/>
        </p:nvSpPr>
        <p:spPr>
          <a:xfrm>
            <a:off x="4131468" y="485775"/>
            <a:ext cx="3929062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2563E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B.SC. FINAL YEAR PROJECT — GRADUATION DEFENSE</a:t>
            </a:r>
            <a:endParaRPr/>
          </a:p>
        </p:txBody>
      </p:sp>
      <p:sp>
        <p:nvSpPr>
          <p:cNvPr id="963" name="Google Shape;963;p59"/>
          <p:cNvSpPr txBox="1"/>
          <p:nvPr/>
        </p:nvSpPr>
        <p:spPr>
          <a:xfrm>
            <a:off x="4033242" y="814387"/>
            <a:ext cx="4125515" cy="731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/>
          </a:p>
        </p:txBody>
      </p:sp>
      <p:sp>
        <p:nvSpPr>
          <p:cNvPr id="964" name="Google Shape;964;p59"/>
          <p:cNvSpPr txBox="1"/>
          <p:nvPr/>
        </p:nvSpPr>
        <p:spPr>
          <a:xfrm>
            <a:off x="4131468" y="1660177"/>
            <a:ext cx="3929062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Questions &amp; Academic Discussion</a:t>
            </a:r>
            <a:endParaRPr/>
          </a:p>
        </p:txBody>
      </p:sp>
      <p:sp>
        <p:nvSpPr>
          <p:cNvPr id="965" name="Google Shape;965;p59"/>
          <p:cNvSpPr txBox="1"/>
          <p:nvPr/>
        </p:nvSpPr>
        <p:spPr>
          <a:xfrm>
            <a:off x="771525" y="5743575"/>
            <a:ext cx="1064895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Computer and Software Engineering Department</a:t>
            </a:r>
            <a:endParaRPr/>
          </a:p>
        </p:txBody>
      </p:sp>
      <p:sp>
        <p:nvSpPr>
          <p:cNvPr id="966" name="Google Shape;966;p59"/>
          <p:cNvSpPr txBox="1"/>
          <p:nvPr/>
        </p:nvSpPr>
        <p:spPr>
          <a:xfrm>
            <a:off x="771525" y="5995987"/>
            <a:ext cx="10648950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Misr University for Science and Technology</a:t>
            </a:r>
            <a:endParaRPr/>
          </a:p>
        </p:txBody>
      </p:sp>
      <p:sp>
        <p:nvSpPr>
          <p:cNvPr id="967" name="Google Shape;967;p59"/>
          <p:cNvSpPr txBox="1"/>
          <p:nvPr/>
        </p:nvSpPr>
        <p:spPr>
          <a:xfrm>
            <a:off x="771525" y="6477000"/>
            <a:ext cx="10648950" cy="133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MUST — Q&amp;A Stage Slide 53 of 53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68096" y="594360"/>
            <a:ext cx="228600" cy="228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484632"/>
            <a:ext cx="10817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</a:rPr>
              <a:t>Feature Selection &amp; Importance Analysis — ML vs DL</a:t>
            </a:r>
          </a:p>
        </p:txBody>
      </p:sp>
      <p:sp>
        <p:nvSpPr>
          <p:cNvPr id="4" name="Rectangle 3"/>
          <p:cNvSpPr/>
          <p:nvPr/>
        </p:nvSpPr>
        <p:spPr>
          <a:xfrm>
            <a:off x="768096" y="996696"/>
            <a:ext cx="10652760" cy="127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8096" y="1097280"/>
            <a:ext cx="5129784" cy="105156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170432"/>
            <a:ext cx="51297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2563EB"/>
                </a:solidFill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1673352"/>
            <a:ext cx="51297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</a:rPr>
              <a:t>ML Track features  (selected from 80 total)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91072" y="1097280"/>
            <a:ext cx="5129784" cy="1051560"/>
          </a:xfrm>
          <a:prstGeom prst="rect">
            <a:avLst/>
          </a:prstGeom>
          <a:solidFill>
            <a:srgbClr val="F0FDF4"/>
          </a:solidFill>
          <a:ln w="9525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91072" y="1170432"/>
            <a:ext cx="51297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16A34A"/>
                </a:solidFill>
              </a:rPr>
              <a:t>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91072" y="1673352"/>
            <a:ext cx="51297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</a:rPr>
              <a:t>DL Track features  (full cleaned set, auto-weighted)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331720"/>
            <a:ext cx="5129784" cy="42062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2487168"/>
            <a:ext cx="4727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How ML Features Were Selected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9264" y="2761488"/>
            <a:ext cx="4727448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2834640"/>
            <a:ext cx="4727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① Domain filtering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3072384"/>
            <a:ext cx="4727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From 80 CICFlowMeter columns, features requiring deep packet inspection or unavailable at runtime were removed, leaving 30 candidates.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3602736"/>
            <a:ext cx="4727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② XGBoost gain-based ranking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3840480"/>
            <a:ext cx="4727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XGBoost trained on 30 candidates; each feature scored by average loss reduction per split across 200 trees. Top 16 retained. PSH Flag Count = 24.21% of total gain.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" y="4370832"/>
            <a:ext cx="4727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③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" y="4608576"/>
            <a:ext cx="4727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16-feature model → 97.99% accuracy. 80% dimensionality reduction at zero accuracy cost.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91072" y="2331720"/>
            <a:ext cx="5129784" cy="42062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487168"/>
            <a:ext cx="4727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How DL Features Were Selected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2761488"/>
            <a:ext cx="4727448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834640"/>
            <a:ext cx="4727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</a:rPr>
              <a:t>① Keep all 80 columns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072384"/>
            <a:ext cx="4727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All 80 columns retained after removing NaN/Inf rows (CICFlowMeter division-by-zero artifacts), leaving 68 fully numeric columns.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602736"/>
            <a:ext cx="4727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</a:rPr>
              <a:t>② ANN learns weights automatically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840480"/>
            <a:ext cx="4727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No manual selection. Dense(256) input layer adjusts weights via backpropagation. Dropout (0.2–0.3) suppresses low-signal features automatically.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370832"/>
            <a:ext cx="4727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</a:rPr>
              <a:t>③ Key difference from ML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608576"/>
            <a:ext cx="4727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ML: 16 features for real-time hardware extraction. DL: 68 features proving deep networks need no manual engineering — a core project finding.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68096" y="594360"/>
            <a:ext cx="228600" cy="228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484632"/>
            <a:ext cx="10817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</a:rPr>
              <a:t>Feature Importance — Measurement &amp; Selection Rationale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68096" y="996696"/>
            <a:ext cx="10652760" cy="127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8096" y="1143000"/>
            <a:ext cx="5129784" cy="5394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1298448"/>
            <a:ext cx="4727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How Feature Importance Is Measured</a:t>
            </a:r>
          </a:p>
        </p:txBody>
      </p:sp>
      <p:sp>
        <p:nvSpPr>
          <p:cNvPr id="7" name="Rectangle 6"/>
          <p:cNvSpPr/>
          <p:nvPr/>
        </p:nvSpPr>
        <p:spPr>
          <a:xfrm>
            <a:off x="969264" y="1572768"/>
            <a:ext cx="4727448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664208"/>
            <a:ext cx="4727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XGBoost Gain-Based Scoring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1883664"/>
            <a:ext cx="4727448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Each feature receives a gain score = average reduction in training loss per split, across all 200 boosting trees. Higher gain = more predictive value per use — more reliable than frequency counts which simply measure how often a feature appears.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670048"/>
            <a:ext cx="4727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Why These 16 Features?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889504"/>
            <a:ext cx="47274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All 16 are directly extractable from live TCP/IP headers by CICFlowMeter — no deep packet inspection required. PSH Flag Count alone accounts for 24.21% of total predictive gain.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3474720"/>
            <a:ext cx="4727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Performance 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3694176"/>
            <a:ext cx="47274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97.99% overall accuracy using only 16 of 80 features — confirming that an 80% dimensionality reduction introduced zero accuracy cost.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4169663"/>
            <a:ext cx="4727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Gain vs Frequency Importance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4389120"/>
            <a:ext cx="47274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Gain is preferred over frequency because a feature used in 1 critical split that perfectly separates DDoS from BENIGN outranks a feature used in 100 low-value splits.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91072" y="1143000"/>
            <a:ext cx="5129784" cy="53949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298448"/>
            <a:ext cx="4727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Top 8 Features — XGBoost Gain Scores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1572768"/>
            <a:ext cx="4727448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6459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#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1152" y="1645920"/>
            <a:ext cx="713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Gain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16459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</a:rPr>
              <a:t>Feature  /  Attack Relevance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1847088"/>
            <a:ext cx="4727448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1901952"/>
            <a:ext cx="5093208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192024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1920240"/>
            <a:ext cx="7132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0.2421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1920240"/>
            <a:ext cx="17190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PSH Flag Count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1920240"/>
            <a:ext cx="19568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HTTP floods bypass TCP buffering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203704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31152" y="2203704"/>
            <a:ext cx="7132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0.1798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2203704"/>
            <a:ext cx="17190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Bwd Packet Length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2203704"/>
            <a:ext cx="19568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Scanning vs normal traffic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2468880"/>
            <a:ext cx="5093208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248716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31152" y="2487168"/>
            <a:ext cx="7132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0.1109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0" y="2487168"/>
            <a:ext cx="17190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Total Fwd Packets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2487168"/>
            <a:ext cx="19568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Asymmetric ratio → DoS/DDoS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277063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31152" y="2770632"/>
            <a:ext cx="7132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0.0913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0" y="2770632"/>
            <a:ext cx="17190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Total Length of Bwd Packets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20" y="2770632"/>
            <a:ext cx="19568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Bulk exfiltration responses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3035808"/>
            <a:ext cx="5093208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3054096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31152" y="3054096"/>
            <a:ext cx="7132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0.0687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0" y="3054096"/>
            <a:ext cx="17190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Total Length of Fwd Packets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18320" y="3054096"/>
            <a:ext cx="19568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Payload flooding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333756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31152" y="3337560"/>
            <a:ext cx="7132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0.0602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0" y="3337560"/>
            <a:ext cx="17190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Fwd Packet Length Max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18320" y="3337560"/>
            <a:ext cx="19568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Fixed-payload tool traffic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09360" y="3602736"/>
            <a:ext cx="5093208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92240" y="3621024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31152" y="3621024"/>
            <a:ext cx="7132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0.0593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80960" y="3621024"/>
            <a:ext cx="17190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Bwd Packet Length Max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18320" y="3621024"/>
            <a:ext cx="19568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Amplification attacks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92240" y="3904488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31152" y="3904488"/>
            <a:ext cx="7132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172A"/>
                </a:solidFill>
              </a:rPr>
              <a:t>0.0415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80960" y="3904488"/>
            <a:ext cx="17190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Total Backward Packets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418320" y="3904488"/>
            <a:ext cx="19568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Server unresponsive under DoS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